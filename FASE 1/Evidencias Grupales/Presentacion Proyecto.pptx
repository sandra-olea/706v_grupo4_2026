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4" r:id="rId4"/>
    <p:sldId id="260" r:id="rId5"/>
    <p:sldId id="269" r:id="rId6"/>
    <p:sldId id="259" r:id="rId7"/>
    <p:sldId id="287" r:id="rId8"/>
    <p:sldId id="261" r:id="rId9"/>
    <p:sldId id="288" r:id="rId10"/>
    <p:sldId id="278" r:id="rId11"/>
    <p:sldId id="279" r:id="rId12"/>
    <p:sldId id="276" r:id="rId13"/>
    <p:sldId id="286" r:id="rId1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5_2#1">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1" qsCatId="simple" csTypeId="urn:microsoft.com/office/officeart/2005/8/colors/accent5_2#1" csCatId="accent5" phldr="1"/>
      <dgm:spPr/>
      <dgm:t>
        <a:bodyPr/>
        <a:lstStyle/>
        <a:p>
          <a:endParaRPr lang="es-CL"/>
        </a:p>
      </dgm:t>
    </dgm:pt>
    <dgm:pt modelId="{78BFB295-8F5D-4286-B72B-79142F8F0E13}">
      <dgm:prSet phldrT="[Texto]"/>
      <dgm:spPr/>
      <dgm:t>
        <a:bodyPr/>
        <a:lstStyle/>
        <a:p>
          <a:r>
            <a:rPr lang="es-MX" dirty="0"/>
            <a:t>Martin Romero</a:t>
          </a:r>
          <a:endParaRPr lang="es-CL" dirty="0"/>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02A34BC0-F8BA-4A89-87A4-4F20079DFD06}">
      <dgm:prSet phldrT="[Texto]"/>
      <dgm:spPr/>
      <dgm:t>
        <a:bodyPr/>
        <a:lstStyle/>
        <a:p>
          <a:r>
            <a:rPr lang="es-CL" dirty="0"/>
            <a:t>Abel González</a:t>
          </a:r>
        </a:p>
      </dgm:t>
    </dgm:pt>
    <dgm:pt modelId="{9ADB496F-2DB6-4F16-8C91-2EB9CDF5F2F2}" type="parTrans" cxnId="{0E2AE979-A66C-4CEC-BFF4-5B28BB7CD9EA}">
      <dgm:prSet/>
      <dgm:spPr/>
      <dgm:t>
        <a:bodyPr/>
        <a:lstStyle/>
        <a:p>
          <a:endParaRPr lang="es-CL"/>
        </a:p>
      </dgm:t>
    </dgm:pt>
    <dgm:pt modelId="{44AB630E-CD8B-4223-9F51-5EEE4E054B0A}" type="sibTrans" cxnId="{0E2AE979-A66C-4CEC-BFF4-5B28BB7CD9EA}">
      <dgm:prSet/>
      <dgm:spPr/>
      <dgm:t>
        <a:bodyPr/>
        <a:lstStyle/>
        <a:p>
          <a:endParaRPr lang="es-CL"/>
        </a:p>
      </dgm:t>
    </dgm:pt>
    <dgm:pt modelId="{2E221207-005F-49CB-81E1-6D036D64322B}">
      <dgm:prSet phldrT="[Texto]"/>
      <dgm:spPr/>
      <dgm:t>
        <a:bodyPr/>
        <a:lstStyle/>
        <a:p>
          <a:r>
            <a:rPr lang="es-MX" dirty="0"/>
            <a:t>Funciones desempeñadas: </a:t>
          </a:r>
          <a:r>
            <a:rPr lang="es-CL" dirty="0"/>
            <a:t>Coordinación general del proyecto, seguimiento de hitos, relación con los </a:t>
          </a:r>
          <a:r>
            <a:rPr lang="es-CL" dirty="0" err="1"/>
            <a:t>stakeholders</a:t>
          </a:r>
          <a:r>
            <a:rPr lang="es-CL" dirty="0"/>
            <a:t> y diseño del modelo relacional en SQL Server.</a:t>
          </a:r>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EA3B2395-55AF-495E-9D6B-329D2886612F}">
      <dgm:prSet phldrT="[Texto]"/>
      <dgm:spPr/>
      <dgm:t>
        <a:bodyPr/>
        <a:lstStyle/>
        <a:p>
          <a:r>
            <a:rPr lang="es-MX" dirty="0"/>
            <a:t>Cargo: </a:t>
          </a:r>
          <a:r>
            <a:rPr lang="es-CL" dirty="0"/>
            <a:t>Gerente de Proyecto / Calidad (QA) / Diseñador UI-UX</a:t>
          </a:r>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MX" dirty="0"/>
            <a:t>Funciones desempeñadas: </a:t>
          </a:r>
          <a:r>
            <a:rPr lang="es-CL" dirty="0"/>
            <a:t>Diseño de interfaces responsivas y prototipos, ejecución de pruebas de software (Testing) y validación de usabilidad.</a:t>
          </a:r>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F09BF26D-2022-40EF-B754-46AD6A5DA741}">
      <dgm:prSet/>
      <dgm:spPr/>
      <dgm:t>
        <a:bodyPr/>
        <a:lstStyle/>
        <a:p>
          <a:r>
            <a:rPr lang="es-CL" dirty="0"/>
            <a:t>Jean Coloma</a:t>
          </a:r>
        </a:p>
      </dgm:t>
    </dgm:pt>
    <dgm:pt modelId="{22E33F83-C1EA-4F57-9248-EBBDD1566FE6}" type="parTrans" cxnId="{9B06EC53-423E-4393-A141-AEC376BB0443}">
      <dgm:prSet/>
      <dgm:spPr/>
      <dgm:t>
        <a:bodyPr/>
        <a:lstStyle/>
        <a:p>
          <a:endParaRPr lang="es-CL"/>
        </a:p>
      </dgm:t>
    </dgm:pt>
    <dgm:pt modelId="{A3A9474B-2427-41B4-91AF-61930E05E90E}" type="sibTrans" cxnId="{9B06EC53-423E-4393-A141-AEC376BB0443}">
      <dgm:prSet/>
      <dgm:spPr/>
      <dgm:t>
        <a:bodyPr/>
        <a:lstStyle/>
        <a:p>
          <a:endParaRPr lang="es-CL"/>
        </a:p>
      </dgm:t>
    </dgm:pt>
    <dgm:pt modelId="{0390E1A4-9F0C-46E1-9789-486D169974EF}">
      <dgm:prSet/>
      <dgm:spPr/>
      <dgm:t>
        <a:bodyPr/>
        <a:lstStyle/>
        <a:p>
          <a:r>
            <a:rPr lang="es-CL" dirty="0"/>
            <a:t>Cargo: Analista Programador</a:t>
          </a:r>
        </a:p>
      </dgm:t>
    </dgm:pt>
    <dgm:pt modelId="{6B5C0B58-0A4A-499B-8E3C-CFF01ED1659D}" type="parTrans" cxnId="{61B14E73-C545-4FAF-A9A1-1B5F097E1162}">
      <dgm:prSet/>
      <dgm:spPr/>
      <dgm:t>
        <a:bodyPr/>
        <a:lstStyle/>
        <a:p>
          <a:endParaRPr lang="es-CL"/>
        </a:p>
      </dgm:t>
    </dgm:pt>
    <dgm:pt modelId="{B2B96C2E-A18A-4AAD-B360-3C214C15C245}" type="sibTrans" cxnId="{61B14E73-C545-4FAF-A9A1-1B5F097E1162}">
      <dgm:prSet/>
      <dgm:spPr/>
      <dgm:t>
        <a:bodyPr/>
        <a:lstStyle/>
        <a:p>
          <a:endParaRPr lang="es-CL"/>
        </a:p>
      </dgm:t>
    </dgm:pt>
    <dgm:pt modelId="{761B5960-C5C5-4A81-977F-F8155402171A}">
      <dgm:prSet/>
      <dgm:spPr/>
      <dgm:t>
        <a:bodyPr/>
        <a:lstStyle/>
        <a:p>
          <a:r>
            <a:rPr lang="es-CL" dirty="0"/>
            <a:t>Funciones desempeñadas: Análisis de requerimientos funcionales, programación de vistas (Razor) y desarrollo de la lógica de negocio en C# .NET.</a:t>
          </a:r>
        </a:p>
      </dgm:t>
    </dgm:pt>
    <dgm:pt modelId="{22F36988-6788-43E0-A823-AE4DD93A3D87}" type="parTrans" cxnId="{1FCDC96F-E7D0-4592-88D9-5D1CC7D10168}">
      <dgm:prSet/>
      <dgm:spPr/>
      <dgm:t>
        <a:bodyPr/>
        <a:lstStyle/>
        <a:p>
          <a:endParaRPr lang="es-CL"/>
        </a:p>
      </dgm:t>
    </dgm:pt>
    <dgm:pt modelId="{44CDD779-8E39-476B-AA7D-0796F124FDD0}" type="sibTrans" cxnId="{1FCDC96F-E7D0-4592-88D9-5D1CC7D10168}">
      <dgm:prSet/>
      <dgm:spPr/>
      <dgm:t>
        <a:bodyPr/>
        <a:lstStyle/>
        <a:p>
          <a:endParaRPr lang="es-CL"/>
        </a:p>
      </dgm:t>
    </dgm:pt>
    <dgm:pt modelId="{D868444B-AE34-4422-A6A5-1F7D392D0C20}">
      <dgm:prSet phldrT="[Texto]"/>
      <dgm:spPr/>
      <dgm:t>
        <a:bodyPr/>
        <a:lstStyle/>
        <a:p>
          <a:r>
            <a:rPr lang="es-CL" dirty="0"/>
            <a:t>Jefe de Proyecto / Administrador BD (DBA)</a:t>
          </a:r>
        </a:p>
      </dgm:t>
    </dgm:pt>
    <dgm:pt modelId="{7DB88D83-6C3A-48C1-8CAD-0D11C3BEC35C}" type="parTrans" cxnId="{A5791870-6C3C-4A2F-A643-EBBC983C55BA}">
      <dgm:prSet/>
      <dgm:spPr/>
      <dgm:t>
        <a:bodyPr/>
        <a:lstStyle/>
        <a:p>
          <a:endParaRPr lang="es-CL"/>
        </a:p>
      </dgm:t>
    </dgm:pt>
    <dgm:pt modelId="{74B9B1A5-94EB-40A9-BFF2-678501068FB8}" type="sibTrans" cxnId="{A5791870-6C3C-4A2F-A643-EBBC983C55BA}">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3" custLinFactNeighborX="5318" custLinFactNeighborY="-12417"/>
      <dgm:spPr/>
    </dgm:pt>
    <dgm:pt modelId="{9A7E2690-DE9C-4572-9BE5-B8C9A3B8BBB3}" type="pres">
      <dgm:prSet presAssocID="{78BFB295-8F5D-4286-B72B-79142F8F0E13}" presName="img" presStyleLbl="fgImgPlace1" presStyleIdx="0" presStyleCnt="3"/>
      <dgm:spPr/>
    </dgm:pt>
    <dgm:pt modelId="{52D125D2-FCA7-4A2D-AB39-B6BD54F251F2}" type="pres">
      <dgm:prSet presAssocID="{78BFB295-8F5D-4286-B72B-79142F8F0E13}" presName="text" presStyleLbl="node1" presStyleIdx="0" presStyleCnt="3">
        <dgm:presLayoutVars>
          <dgm:bulletEnabled val="1"/>
        </dgm:presLayoutVars>
      </dgm:prSet>
      <dgm:spPr/>
    </dgm:pt>
    <dgm:pt modelId="{E95CA29D-745B-40BA-93B6-BB607C99A2CE}" type="pres">
      <dgm:prSet presAssocID="{E88D0928-51D4-4670-8963-60ABBB193E13}"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1" presStyleCnt="3"/>
      <dgm:spPr/>
    </dgm:pt>
    <dgm:pt modelId="{3F97C059-D720-4D48-953F-B84D04D0BF79}" type="pres">
      <dgm:prSet presAssocID="{02A34BC0-F8BA-4A89-87A4-4F20079DFD06}" presName="img" presStyleLbl="fgImgPlace1" presStyleIdx="1" presStyleCnt="3"/>
      <dgm:spPr/>
    </dgm:pt>
    <dgm:pt modelId="{CFFDF23F-D296-4CDF-8EE4-8A672559E207}" type="pres">
      <dgm:prSet presAssocID="{02A34BC0-F8BA-4A89-87A4-4F20079DFD06}" presName="text" presStyleLbl="node1" presStyleIdx="1" presStyleCnt="3">
        <dgm:presLayoutVars>
          <dgm:bulletEnabled val="1"/>
        </dgm:presLayoutVars>
      </dgm:prSet>
      <dgm:spPr/>
    </dgm:pt>
    <dgm:pt modelId="{40453781-DACE-4118-ADC4-2B966E9374E5}" type="pres">
      <dgm:prSet presAssocID="{44AB630E-CD8B-4223-9F51-5EEE4E054B0A}" presName="spacer" presStyleCnt="0"/>
      <dgm:spPr/>
    </dgm:pt>
    <dgm:pt modelId="{0A053813-1A27-48A9-9CE4-CF4EBB9943E0}" type="pres">
      <dgm:prSet presAssocID="{F09BF26D-2022-40EF-B754-46AD6A5DA741}" presName="comp" presStyleCnt="0"/>
      <dgm:spPr/>
    </dgm:pt>
    <dgm:pt modelId="{F6EA3109-3DED-4AF4-91BA-940DEFBF6AB6}" type="pres">
      <dgm:prSet presAssocID="{F09BF26D-2022-40EF-B754-46AD6A5DA741}" presName="box" presStyleLbl="node1" presStyleIdx="2" presStyleCnt="3"/>
      <dgm:spPr/>
    </dgm:pt>
    <dgm:pt modelId="{504B6808-2EA0-4B63-AE60-779A9AA54E83}" type="pres">
      <dgm:prSet presAssocID="{F09BF26D-2022-40EF-B754-46AD6A5DA741}" presName="img" presStyleLbl="fgImgPlace1" presStyleIdx="2" presStyleCnt="3"/>
      <dgm:spPr/>
    </dgm:pt>
    <dgm:pt modelId="{4539DCF4-B987-4503-BDC5-6515AA2623F4}" type="pres">
      <dgm:prSet presAssocID="{F09BF26D-2022-40EF-B754-46AD6A5DA741}" presName="text" presStyleLbl="node1" presStyleIdx="2" presStyleCnt="3">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3CCA873A-0C91-4A04-B238-F8339EF06A5E}" type="presOf" srcId="{D868444B-AE34-4422-A6A5-1F7D392D0C20}" destId="{52D125D2-FCA7-4A2D-AB39-B6BD54F251F2}" srcOrd="1" destOrd="1" presId="urn:microsoft.com/office/officeart/2005/8/layout/vList4"/>
    <dgm:cxn modelId="{9075E35B-9421-4492-8456-038D67D0E13D}" type="presOf" srcId="{D868444B-AE34-4422-A6A5-1F7D392D0C20}" destId="{54FC4CB6-0791-48D3-B2C5-2E99B8AFCFF7}" srcOrd="0" destOrd="1" presId="urn:microsoft.com/office/officeart/2005/8/layout/vList4"/>
    <dgm:cxn modelId="{22F3405C-AB8E-4AC3-A83C-C551BA0831ED}" type="presOf" srcId="{55A2A9EB-4C26-43C3-B721-D475B10BC39B}" destId="{39AFE128-ACF6-44CA-B18B-64F5782CF210}" srcOrd="0" destOrd="2" presId="urn:microsoft.com/office/officeart/2005/8/layout/vList4"/>
    <dgm:cxn modelId="{2C828946-04C2-4742-B471-ECA846DB9856}" type="presOf" srcId="{761B5960-C5C5-4A81-977F-F8155402171A}" destId="{F6EA3109-3DED-4AF4-91BA-940DEFBF6AB6}" srcOrd="0" destOrd="2" presId="urn:microsoft.com/office/officeart/2005/8/layout/vList4"/>
    <dgm:cxn modelId="{1FCDC96F-E7D0-4592-88D9-5D1CC7D10168}" srcId="{F09BF26D-2022-40EF-B754-46AD6A5DA741}" destId="{761B5960-C5C5-4A81-977F-F8155402171A}" srcOrd="1" destOrd="0" parTransId="{22F36988-6788-43E0-A823-AE4DD93A3D87}" sibTransId="{44CDD779-8E39-476B-AA7D-0796F124FDD0}"/>
    <dgm:cxn modelId="{A5791870-6C3C-4A2F-A643-EBBC983C55BA}" srcId="{78BFB295-8F5D-4286-B72B-79142F8F0E13}" destId="{D868444B-AE34-4422-A6A5-1F7D392D0C20}" srcOrd="0" destOrd="0" parTransId="{7DB88D83-6C3A-48C1-8CAD-0D11C3BEC35C}" sibTransId="{74B9B1A5-94EB-40A9-BFF2-678501068FB8}"/>
    <dgm:cxn modelId="{61B14E73-C545-4FAF-A9A1-1B5F097E1162}" srcId="{F09BF26D-2022-40EF-B754-46AD6A5DA741}" destId="{0390E1A4-9F0C-46E1-9789-486D169974EF}" srcOrd="0" destOrd="0" parTransId="{6B5C0B58-0A4A-499B-8E3C-CFF01ED1659D}" sibTransId="{B2B96C2E-A18A-4AAD-B360-3C214C15C245}"/>
    <dgm:cxn modelId="{DC02AD53-682D-464B-9D09-C1B6DCD5AFB0}" type="presOf" srcId="{55A2A9EB-4C26-43C3-B721-D475B10BC39B}" destId="{CFFDF23F-D296-4CDF-8EE4-8A672559E207}" srcOrd="1" destOrd="2" presId="urn:microsoft.com/office/officeart/2005/8/layout/vList4"/>
    <dgm:cxn modelId="{9B06EC53-423E-4393-A141-AEC376BB0443}" srcId="{BE45140C-C326-4DAA-A267-498AD5117D68}" destId="{F09BF26D-2022-40EF-B754-46AD6A5DA741}" srcOrd="2" destOrd="0" parTransId="{22E33F83-C1EA-4F57-9248-EBBDD1566FE6}" sibTransId="{A3A9474B-2427-41B4-91AF-61930E05E90E}"/>
    <dgm:cxn modelId="{0E2AE979-A66C-4CEC-BFF4-5B28BB7CD9EA}" srcId="{BE45140C-C326-4DAA-A267-498AD5117D68}" destId="{02A34BC0-F8BA-4A89-87A4-4F20079DFD06}" srcOrd="1"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35644DB8-C835-4294-BDCC-65F02563272E}" type="presOf" srcId="{F09BF26D-2022-40EF-B754-46AD6A5DA741}" destId="{4539DCF4-B987-4503-BDC5-6515AA2623F4}" srcOrd="1" destOrd="0" presId="urn:microsoft.com/office/officeart/2005/8/layout/vList4"/>
    <dgm:cxn modelId="{1C4CA7B8-D73C-4887-B6EF-9DD0AA3C9CC0}" type="presOf" srcId="{0390E1A4-9F0C-46E1-9789-486D169974EF}" destId="{F6EA3109-3DED-4AF4-91BA-940DEFBF6AB6}" srcOrd="0" destOrd="1"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591224CB-30C3-4CF4-BAED-D7B1C080647D}" type="presOf" srcId="{761B5960-C5C5-4A81-977F-F8155402171A}" destId="{4539DCF4-B987-4503-BDC5-6515AA2623F4}" srcOrd="1" destOrd="2"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2593AFE8-92A4-4503-BAE3-83273E976BB2}" type="presOf" srcId="{F09BF26D-2022-40EF-B754-46AD6A5DA741}" destId="{F6EA3109-3DED-4AF4-91BA-940DEFBF6AB6}" srcOrd="0" destOrd="0" presId="urn:microsoft.com/office/officeart/2005/8/layout/vList4"/>
    <dgm:cxn modelId="{E5044FFB-1C40-4D08-BBFF-F474AD143165}" type="presOf" srcId="{0390E1A4-9F0C-46E1-9789-486D169974EF}" destId="{4539DCF4-B987-4503-BDC5-6515AA2623F4}" srcOrd="1" destOrd="1" presId="urn:microsoft.com/office/officeart/2005/8/layout/vList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158F6488-FF9D-4053-8FD1-E0DD5F22ECAD}" type="presParOf" srcId="{6E1E561E-88C1-49C6-A3F7-DE4B9AD43273}" destId="{41A67AC8-1DD7-4AB7-96A3-87B24035E3FA}" srcOrd="2"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 modelId="{C9CD1524-D5D2-47DD-A731-469F83B73691}" type="presParOf" srcId="{6E1E561E-88C1-49C6-A3F7-DE4B9AD43273}" destId="{40453781-DACE-4118-ADC4-2B966E9374E5}" srcOrd="3" destOrd="0" presId="urn:microsoft.com/office/officeart/2005/8/layout/vList4"/>
    <dgm:cxn modelId="{2F4FFB68-C773-4AC3-91CF-5BB59750C55D}" type="presParOf" srcId="{6E1E561E-88C1-49C6-A3F7-DE4B9AD43273}" destId="{0A053813-1A27-48A9-9CE4-CF4EBB9943E0}" srcOrd="4" destOrd="0" presId="urn:microsoft.com/office/officeart/2005/8/layout/vList4"/>
    <dgm:cxn modelId="{31D19C3B-9B03-4539-B9E2-97165831DA16}" type="presParOf" srcId="{0A053813-1A27-48A9-9CE4-CF4EBB9943E0}" destId="{F6EA3109-3DED-4AF4-91BA-940DEFBF6AB6}" srcOrd="0" destOrd="0" presId="urn:microsoft.com/office/officeart/2005/8/layout/vList4"/>
    <dgm:cxn modelId="{A2732A31-71D9-411D-A938-D94866DD45F4}" type="presParOf" srcId="{0A053813-1A27-48A9-9CE4-CF4EBB9943E0}" destId="{504B6808-2EA0-4B63-AE60-779A9AA54E83}" srcOrd="1" destOrd="0" presId="urn:microsoft.com/office/officeart/2005/8/layout/vList4"/>
    <dgm:cxn modelId="{6469C114-48C6-4ED4-B7EA-90146A2512C3}" type="presParOf" srcId="{0A053813-1A27-48A9-9CE4-CF4EBB9943E0}" destId="{4539DCF4-B987-4503-BDC5-6515AA2623F4}"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0E0CF4-DC9B-467A-BB7B-E3390564B22E}" type="doc">
      <dgm:prSet loTypeId="urn:microsoft.com/office/officeart/2018/2/layout/IconVerticalSolidList" loCatId="icon" qsTypeId="urn:microsoft.com/office/officeart/2005/8/quickstyle/simple1#8" qsCatId="simple" csTypeId="urn:microsoft.com/office/officeart/2018/5/colors/Iconchunking_neutralbg_colorful1" csCatId="colorful" phldr="1"/>
      <dgm:spPr/>
      <dgm:t>
        <a:bodyPr/>
        <a:lstStyle/>
        <a:p>
          <a:endParaRPr lang="en-US"/>
        </a:p>
      </dgm:t>
    </dgm:pt>
    <dgm:pt modelId="{2CC7C590-032F-4CB8-B84C-2E70A96DA672}">
      <dgm:prSet/>
      <dgm:spPr/>
      <dgm:t>
        <a:bodyPr/>
        <a:lstStyle/>
        <a:p>
          <a:r>
            <a:rPr lang="es-CL" b="1"/>
            <a:t>Backend (Lógica de Negocio):</a:t>
          </a:r>
          <a:r>
            <a:rPr lang="es-CL"/>
            <a:t> Desarrollado en </a:t>
          </a:r>
          <a:r>
            <a:rPr lang="es-CL" b="1"/>
            <a:t>C#</a:t>
          </a:r>
          <a:r>
            <a:rPr lang="es-CL"/>
            <a:t> utilizando el framework </a:t>
          </a:r>
          <a:r>
            <a:rPr lang="es-CL" b="1"/>
            <a:t>.NET Core 8</a:t>
          </a:r>
          <a:r>
            <a:rPr lang="es-CL"/>
            <a:t>. Esto permite estructurar el sistema bajo una sólida arquitectura en 3 capas (Presentación, Lógica y Datos) mediante APIs RESTful. </a:t>
          </a:r>
          <a:endParaRPr lang="en-US"/>
        </a:p>
      </dgm:t>
    </dgm:pt>
    <dgm:pt modelId="{11C710FE-98E6-4B3D-A018-09B38CAC081F}" type="parTrans" cxnId="{439EC52E-8E2A-4399-8B77-49A59B9A010C}">
      <dgm:prSet/>
      <dgm:spPr/>
      <dgm:t>
        <a:bodyPr/>
        <a:lstStyle/>
        <a:p>
          <a:endParaRPr lang="en-US"/>
        </a:p>
      </dgm:t>
    </dgm:pt>
    <dgm:pt modelId="{3582322D-BABD-494C-A97C-2C5F4EC288DE}" type="sibTrans" cxnId="{439EC52E-8E2A-4399-8B77-49A59B9A010C}">
      <dgm:prSet/>
      <dgm:spPr/>
      <dgm:t>
        <a:bodyPr/>
        <a:lstStyle/>
        <a:p>
          <a:endParaRPr lang="en-US"/>
        </a:p>
      </dgm:t>
    </dgm:pt>
    <dgm:pt modelId="{DF10E5E2-5BCE-4230-ADA2-4D845E06C64A}">
      <dgm:prSet/>
      <dgm:spPr/>
      <dgm:t>
        <a:bodyPr/>
        <a:lstStyle/>
        <a:p>
          <a:r>
            <a:rPr lang="es-CL" b="1"/>
            <a:t>Frontend (Interfaz de Usuario):</a:t>
          </a:r>
          <a:r>
            <a:rPr lang="es-CL"/>
            <a:t> Vistas construidas con </a:t>
          </a:r>
          <a:r>
            <a:rPr lang="es-CL" b="1"/>
            <a:t>Razor</a:t>
          </a:r>
          <a:r>
            <a:rPr lang="es-CL"/>
            <a:t>, integrando </a:t>
          </a:r>
          <a:r>
            <a:rPr lang="es-CL" b="1"/>
            <a:t>HTML5, CSS3, TypeScript y Bootstrap 5</a:t>
          </a:r>
          <a:r>
            <a:rPr lang="es-CL"/>
            <a:t>. Esto asegura que la plataforma sea 100% responsiva y adaptable a computadores, tablets y móviles. </a:t>
          </a:r>
          <a:endParaRPr lang="en-US"/>
        </a:p>
      </dgm:t>
    </dgm:pt>
    <dgm:pt modelId="{A6A09804-FBE2-4F11-AB8C-705395AF23FE}" type="parTrans" cxnId="{96EFA1BC-9606-4F59-B0AA-09294CC64AD9}">
      <dgm:prSet/>
      <dgm:spPr/>
      <dgm:t>
        <a:bodyPr/>
        <a:lstStyle/>
        <a:p>
          <a:endParaRPr lang="en-US"/>
        </a:p>
      </dgm:t>
    </dgm:pt>
    <dgm:pt modelId="{C24F0D02-5852-4FD3-B980-F8BA4CE818E3}" type="sibTrans" cxnId="{96EFA1BC-9606-4F59-B0AA-09294CC64AD9}">
      <dgm:prSet/>
      <dgm:spPr/>
      <dgm:t>
        <a:bodyPr/>
        <a:lstStyle/>
        <a:p>
          <a:endParaRPr lang="en-US"/>
        </a:p>
      </dgm:t>
    </dgm:pt>
    <dgm:pt modelId="{4D0CE0EB-7D5F-49AA-A8A2-22F27435B2F0}">
      <dgm:prSet/>
      <dgm:spPr/>
      <dgm:t>
        <a:bodyPr/>
        <a:lstStyle/>
        <a:p>
          <a:r>
            <a:rPr lang="es-CL" b="1"/>
            <a:t>Base de Datos:</a:t>
          </a:r>
          <a:r>
            <a:rPr lang="es-CL"/>
            <a:t> </a:t>
          </a:r>
          <a:r>
            <a:rPr lang="es-CL" b="1"/>
            <a:t>Microsoft SQL Server</a:t>
          </a:r>
          <a:r>
            <a:rPr lang="es-CL"/>
            <a:t>, encargado del almacenamiento persistente y seguro. La comunicación se realiza mediante cadenas encriptadas, ejecutando procedimientos almacenados en T-SQL. </a:t>
          </a:r>
          <a:endParaRPr lang="en-US"/>
        </a:p>
      </dgm:t>
    </dgm:pt>
    <dgm:pt modelId="{B96FA4C0-84EB-413A-82CE-D015B24F5006}" type="parTrans" cxnId="{99A2C096-5DB3-494A-A5D1-CD79E8151503}">
      <dgm:prSet/>
      <dgm:spPr/>
      <dgm:t>
        <a:bodyPr/>
        <a:lstStyle/>
        <a:p>
          <a:endParaRPr lang="en-US"/>
        </a:p>
      </dgm:t>
    </dgm:pt>
    <dgm:pt modelId="{4CB9ACDE-9CF1-40F3-A31D-7E04B89B9165}" type="sibTrans" cxnId="{99A2C096-5DB3-494A-A5D1-CD79E8151503}">
      <dgm:prSet/>
      <dgm:spPr/>
      <dgm:t>
        <a:bodyPr/>
        <a:lstStyle/>
        <a:p>
          <a:endParaRPr lang="en-US"/>
        </a:p>
      </dgm:t>
    </dgm:pt>
    <dgm:pt modelId="{B0BD28C1-95F1-479F-A81E-83E64020FDFE}">
      <dgm:prSet/>
      <dgm:spPr/>
      <dgm:t>
        <a:bodyPr/>
        <a:lstStyle/>
        <a:p>
          <a:r>
            <a:rPr lang="es-CL" b="1"/>
            <a:t>Herramientas de Gestión y Entorno:</a:t>
          </a:r>
          <a:r>
            <a:rPr lang="es-CL"/>
            <a:t> Entornos de desarrollo </a:t>
          </a:r>
          <a:r>
            <a:rPr lang="es-CL" b="1"/>
            <a:t>Visual Studio / VS Code</a:t>
          </a:r>
          <a:r>
            <a:rPr lang="es-CL"/>
            <a:t>; </a:t>
          </a:r>
          <a:r>
            <a:rPr lang="es-CL" b="1"/>
            <a:t>Trello</a:t>
          </a:r>
          <a:r>
            <a:rPr lang="es-CL"/>
            <a:t> para la gestión de las iteraciones semanales bajo la metodología ágil Scrum; y </a:t>
          </a:r>
          <a:r>
            <a:rPr lang="es-CL" b="1"/>
            <a:t>Canva</a:t>
          </a:r>
          <a:r>
            <a:rPr lang="es-CL"/>
            <a:t> para el prototipado y diseño UI/UX. </a:t>
          </a:r>
          <a:endParaRPr lang="en-US"/>
        </a:p>
      </dgm:t>
    </dgm:pt>
    <dgm:pt modelId="{A622E836-ACD4-4807-B7F2-E10105EBAE6E}" type="parTrans" cxnId="{2629CB21-0045-4E57-B1CC-99643556B4A0}">
      <dgm:prSet/>
      <dgm:spPr/>
      <dgm:t>
        <a:bodyPr/>
        <a:lstStyle/>
        <a:p>
          <a:endParaRPr lang="en-US"/>
        </a:p>
      </dgm:t>
    </dgm:pt>
    <dgm:pt modelId="{CA3A9637-ACDE-4898-A42F-807B01D5D567}" type="sibTrans" cxnId="{2629CB21-0045-4E57-B1CC-99643556B4A0}">
      <dgm:prSet/>
      <dgm:spPr/>
      <dgm:t>
        <a:bodyPr/>
        <a:lstStyle/>
        <a:p>
          <a:endParaRPr lang="en-US"/>
        </a:p>
      </dgm:t>
    </dgm:pt>
    <dgm:pt modelId="{87A3DB29-9538-4D01-9ACF-7DF7B1E3E5C8}" type="pres">
      <dgm:prSet presAssocID="{5B0E0CF4-DC9B-467A-BB7B-E3390564B22E}" presName="root" presStyleCnt="0">
        <dgm:presLayoutVars>
          <dgm:dir/>
          <dgm:resizeHandles val="exact"/>
        </dgm:presLayoutVars>
      </dgm:prSet>
      <dgm:spPr/>
    </dgm:pt>
    <dgm:pt modelId="{39156940-7A1E-40D8-8F98-C12396461379}" type="pres">
      <dgm:prSet presAssocID="{2CC7C590-032F-4CB8-B84C-2E70A96DA672}" presName="compNode" presStyleCnt="0"/>
      <dgm:spPr/>
    </dgm:pt>
    <dgm:pt modelId="{8195D850-024C-4E39-8859-D30EDF4E2972}" type="pres">
      <dgm:prSet presAssocID="{2CC7C590-032F-4CB8-B84C-2E70A96DA672}" presName="bgRect" presStyleLbl="bgShp" presStyleIdx="0" presStyleCnt="4"/>
      <dgm:spPr/>
    </dgm:pt>
    <dgm:pt modelId="{FF2045DC-35C3-44F2-8D4C-C9756D0AD47F}" type="pres">
      <dgm:prSet presAssocID="{2CC7C590-032F-4CB8-B84C-2E70A96DA67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mputadora"/>
        </a:ext>
      </dgm:extLst>
    </dgm:pt>
    <dgm:pt modelId="{4BF84106-E93E-4B30-B6BB-F4E4E171D7CA}" type="pres">
      <dgm:prSet presAssocID="{2CC7C590-032F-4CB8-B84C-2E70A96DA672}" presName="spaceRect" presStyleCnt="0"/>
      <dgm:spPr/>
    </dgm:pt>
    <dgm:pt modelId="{DF3DDF57-9BC4-41FC-A000-C289B3EEA8F3}" type="pres">
      <dgm:prSet presAssocID="{2CC7C590-032F-4CB8-B84C-2E70A96DA672}" presName="parTx" presStyleLbl="revTx" presStyleIdx="0" presStyleCnt="4">
        <dgm:presLayoutVars>
          <dgm:chMax val="0"/>
          <dgm:chPref val="0"/>
        </dgm:presLayoutVars>
      </dgm:prSet>
      <dgm:spPr/>
    </dgm:pt>
    <dgm:pt modelId="{2F8B70C4-33E1-49BB-A2E2-43488F00DEEC}" type="pres">
      <dgm:prSet presAssocID="{3582322D-BABD-494C-A97C-2C5F4EC288DE}" presName="sibTrans" presStyleCnt="0"/>
      <dgm:spPr/>
    </dgm:pt>
    <dgm:pt modelId="{B23F21FC-5200-4D03-A100-18DA25014980}" type="pres">
      <dgm:prSet presAssocID="{DF10E5E2-5BCE-4230-ADA2-4D845E06C64A}" presName="compNode" presStyleCnt="0"/>
      <dgm:spPr/>
    </dgm:pt>
    <dgm:pt modelId="{C0F9BDE8-FAA7-456E-9D2C-312C96A8F122}" type="pres">
      <dgm:prSet presAssocID="{DF10E5E2-5BCE-4230-ADA2-4D845E06C64A}" presName="bgRect" presStyleLbl="bgShp" presStyleIdx="1" presStyleCnt="4"/>
      <dgm:spPr/>
    </dgm:pt>
    <dgm:pt modelId="{87C44D7C-13BB-433A-AA52-EB52C923CB93}" type="pres">
      <dgm:prSet presAssocID="{DF10E5E2-5BCE-4230-ADA2-4D845E06C64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laraña"/>
        </a:ext>
      </dgm:extLst>
    </dgm:pt>
    <dgm:pt modelId="{52653776-2571-49FD-ACCD-D49F4F71443E}" type="pres">
      <dgm:prSet presAssocID="{DF10E5E2-5BCE-4230-ADA2-4D845E06C64A}" presName="spaceRect" presStyleCnt="0"/>
      <dgm:spPr/>
    </dgm:pt>
    <dgm:pt modelId="{B48FB8D8-6B37-492B-8021-0FACE1B18894}" type="pres">
      <dgm:prSet presAssocID="{DF10E5E2-5BCE-4230-ADA2-4D845E06C64A}" presName="parTx" presStyleLbl="revTx" presStyleIdx="1" presStyleCnt="4">
        <dgm:presLayoutVars>
          <dgm:chMax val="0"/>
          <dgm:chPref val="0"/>
        </dgm:presLayoutVars>
      </dgm:prSet>
      <dgm:spPr/>
    </dgm:pt>
    <dgm:pt modelId="{232233B8-C549-41C2-82A8-F6A23FF6BC73}" type="pres">
      <dgm:prSet presAssocID="{C24F0D02-5852-4FD3-B980-F8BA4CE818E3}" presName="sibTrans" presStyleCnt="0"/>
      <dgm:spPr/>
    </dgm:pt>
    <dgm:pt modelId="{B405DBCA-C162-4522-B918-0A3AF34B2309}" type="pres">
      <dgm:prSet presAssocID="{4D0CE0EB-7D5F-49AA-A8A2-22F27435B2F0}" presName="compNode" presStyleCnt="0"/>
      <dgm:spPr/>
    </dgm:pt>
    <dgm:pt modelId="{77E28E7E-705A-4CBF-A9C1-F282F96E552D}" type="pres">
      <dgm:prSet presAssocID="{4D0CE0EB-7D5F-49AA-A8A2-22F27435B2F0}" presName="bgRect" presStyleLbl="bgShp" presStyleIdx="2" presStyleCnt="4"/>
      <dgm:spPr/>
    </dgm:pt>
    <dgm:pt modelId="{6E84782F-9C33-4BAC-9FC8-2712C41BAF6D}" type="pres">
      <dgm:prSet presAssocID="{4D0CE0EB-7D5F-49AA-A8A2-22F27435B2F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se de datos"/>
        </a:ext>
      </dgm:extLst>
    </dgm:pt>
    <dgm:pt modelId="{97355EA6-0F09-4DBE-93E1-F1F660F79D36}" type="pres">
      <dgm:prSet presAssocID="{4D0CE0EB-7D5F-49AA-A8A2-22F27435B2F0}" presName="spaceRect" presStyleCnt="0"/>
      <dgm:spPr/>
    </dgm:pt>
    <dgm:pt modelId="{746BFC2F-41E6-4B93-AC2C-1835F62FD818}" type="pres">
      <dgm:prSet presAssocID="{4D0CE0EB-7D5F-49AA-A8A2-22F27435B2F0}" presName="parTx" presStyleLbl="revTx" presStyleIdx="2" presStyleCnt="4">
        <dgm:presLayoutVars>
          <dgm:chMax val="0"/>
          <dgm:chPref val="0"/>
        </dgm:presLayoutVars>
      </dgm:prSet>
      <dgm:spPr/>
    </dgm:pt>
    <dgm:pt modelId="{3EE730EC-EE97-467E-8725-C20A0627B9AA}" type="pres">
      <dgm:prSet presAssocID="{4CB9ACDE-9CF1-40F3-A31D-7E04B89B9165}" presName="sibTrans" presStyleCnt="0"/>
      <dgm:spPr/>
    </dgm:pt>
    <dgm:pt modelId="{DC68118A-BC79-496C-B78A-3066D53F2D73}" type="pres">
      <dgm:prSet presAssocID="{B0BD28C1-95F1-479F-A81E-83E64020FDFE}" presName="compNode" presStyleCnt="0"/>
      <dgm:spPr/>
    </dgm:pt>
    <dgm:pt modelId="{5824BC2D-9ADE-47F7-AD05-4D3048030582}" type="pres">
      <dgm:prSet presAssocID="{B0BD28C1-95F1-479F-A81E-83E64020FDFE}" presName="bgRect" presStyleLbl="bgShp" presStyleIdx="3" presStyleCnt="4"/>
      <dgm:spPr/>
    </dgm:pt>
    <dgm:pt modelId="{F3E74BF6-1738-4897-991D-06DD5E8C2575}" type="pres">
      <dgm:prSet presAssocID="{B0BD28C1-95F1-479F-A81E-83E64020FDF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erarquía"/>
        </a:ext>
      </dgm:extLst>
    </dgm:pt>
    <dgm:pt modelId="{16C84A1E-F417-4248-834B-20D75B716A2B}" type="pres">
      <dgm:prSet presAssocID="{B0BD28C1-95F1-479F-A81E-83E64020FDFE}" presName="spaceRect" presStyleCnt="0"/>
      <dgm:spPr/>
    </dgm:pt>
    <dgm:pt modelId="{DB357DB2-CEC4-4F6D-804A-06CCF740741F}" type="pres">
      <dgm:prSet presAssocID="{B0BD28C1-95F1-479F-A81E-83E64020FDFE}" presName="parTx" presStyleLbl="revTx" presStyleIdx="3" presStyleCnt="4">
        <dgm:presLayoutVars>
          <dgm:chMax val="0"/>
          <dgm:chPref val="0"/>
        </dgm:presLayoutVars>
      </dgm:prSet>
      <dgm:spPr/>
    </dgm:pt>
  </dgm:ptLst>
  <dgm:cxnLst>
    <dgm:cxn modelId="{CE52720E-DE0C-424D-BBC5-E655B51AE4C5}" type="presOf" srcId="{B0BD28C1-95F1-479F-A81E-83E64020FDFE}" destId="{DB357DB2-CEC4-4F6D-804A-06CCF740741F}" srcOrd="0" destOrd="0" presId="urn:microsoft.com/office/officeart/2018/2/layout/IconVerticalSolidList"/>
    <dgm:cxn modelId="{2629CB21-0045-4E57-B1CC-99643556B4A0}" srcId="{5B0E0CF4-DC9B-467A-BB7B-E3390564B22E}" destId="{B0BD28C1-95F1-479F-A81E-83E64020FDFE}" srcOrd="3" destOrd="0" parTransId="{A622E836-ACD4-4807-B7F2-E10105EBAE6E}" sibTransId="{CA3A9637-ACDE-4898-A42F-807B01D5D567}"/>
    <dgm:cxn modelId="{439EC52E-8E2A-4399-8B77-49A59B9A010C}" srcId="{5B0E0CF4-DC9B-467A-BB7B-E3390564B22E}" destId="{2CC7C590-032F-4CB8-B84C-2E70A96DA672}" srcOrd="0" destOrd="0" parTransId="{11C710FE-98E6-4B3D-A018-09B38CAC081F}" sibTransId="{3582322D-BABD-494C-A97C-2C5F4EC288DE}"/>
    <dgm:cxn modelId="{321E095C-E2D2-4FD7-8EA7-B652339D671C}" type="presOf" srcId="{2CC7C590-032F-4CB8-B84C-2E70A96DA672}" destId="{DF3DDF57-9BC4-41FC-A000-C289B3EEA8F3}" srcOrd="0" destOrd="0" presId="urn:microsoft.com/office/officeart/2018/2/layout/IconVerticalSolidList"/>
    <dgm:cxn modelId="{65E4A746-74D4-492B-8E2A-E486CCBE3C90}" type="presOf" srcId="{5B0E0CF4-DC9B-467A-BB7B-E3390564B22E}" destId="{87A3DB29-9538-4D01-9ACF-7DF7B1E3E5C8}" srcOrd="0" destOrd="0" presId="urn:microsoft.com/office/officeart/2018/2/layout/IconVerticalSolidList"/>
    <dgm:cxn modelId="{269AC876-00E3-49F3-BB29-52E5321D31D9}" type="presOf" srcId="{DF10E5E2-5BCE-4230-ADA2-4D845E06C64A}" destId="{B48FB8D8-6B37-492B-8021-0FACE1B18894}" srcOrd="0" destOrd="0" presId="urn:microsoft.com/office/officeart/2018/2/layout/IconVerticalSolidList"/>
    <dgm:cxn modelId="{C13ECB57-B0D1-418A-A2B6-06776D6BAEDB}" type="presOf" srcId="{4D0CE0EB-7D5F-49AA-A8A2-22F27435B2F0}" destId="{746BFC2F-41E6-4B93-AC2C-1835F62FD818}" srcOrd="0" destOrd="0" presId="urn:microsoft.com/office/officeart/2018/2/layout/IconVerticalSolidList"/>
    <dgm:cxn modelId="{99A2C096-5DB3-494A-A5D1-CD79E8151503}" srcId="{5B0E0CF4-DC9B-467A-BB7B-E3390564B22E}" destId="{4D0CE0EB-7D5F-49AA-A8A2-22F27435B2F0}" srcOrd="2" destOrd="0" parTransId="{B96FA4C0-84EB-413A-82CE-D015B24F5006}" sibTransId="{4CB9ACDE-9CF1-40F3-A31D-7E04B89B9165}"/>
    <dgm:cxn modelId="{96EFA1BC-9606-4F59-B0AA-09294CC64AD9}" srcId="{5B0E0CF4-DC9B-467A-BB7B-E3390564B22E}" destId="{DF10E5E2-5BCE-4230-ADA2-4D845E06C64A}" srcOrd="1" destOrd="0" parTransId="{A6A09804-FBE2-4F11-AB8C-705395AF23FE}" sibTransId="{C24F0D02-5852-4FD3-B980-F8BA4CE818E3}"/>
    <dgm:cxn modelId="{C1402B33-1374-412F-AD95-0267F0DB62EE}" type="presParOf" srcId="{87A3DB29-9538-4D01-9ACF-7DF7B1E3E5C8}" destId="{39156940-7A1E-40D8-8F98-C12396461379}" srcOrd="0" destOrd="0" presId="urn:microsoft.com/office/officeart/2018/2/layout/IconVerticalSolidList"/>
    <dgm:cxn modelId="{E377B1D6-451A-4B76-909B-FF32000E6AA0}" type="presParOf" srcId="{39156940-7A1E-40D8-8F98-C12396461379}" destId="{8195D850-024C-4E39-8859-D30EDF4E2972}" srcOrd="0" destOrd="0" presId="urn:microsoft.com/office/officeart/2018/2/layout/IconVerticalSolidList"/>
    <dgm:cxn modelId="{F8E23E89-C73A-404A-99F6-1FC81D7AB67B}" type="presParOf" srcId="{39156940-7A1E-40D8-8F98-C12396461379}" destId="{FF2045DC-35C3-44F2-8D4C-C9756D0AD47F}" srcOrd="1" destOrd="0" presId="urn:microsoft.com/office/officeart/2018/2/layout/IconVerticalSolidList"/>
    <dgm:cxn modelId="{90A2C143-CF98-4FD5-B37B-F4C7AC8D8470}" type="presParOf" srcId="{39156940-7A1E-40D8-8F98-C12396461379}" destId="{4BF84106-E93E-4B30-B6BB-F4E4E171D7CA}" srcOrd="2" destOrd="0" presId="urn:microsoft.com/office/officeart/2018/2/layout/IconVerticalSolidList"/>
    <dgm:cxn modelId="{BF8425AF-40A5-492D-8394-51BD68133ECF}" type="presParOf" srcId="{39156940-7A1E-40D8-8F98-C12396461379}" destId="{DF3DDF57-9BC4-41FC-A000-C289B3EEA8F3}" srcOrd="3" destOrd="0" presId="urn:microsoft.com/office/officeart/2018/2/layout/IconVerticalSolidList"/>
    <dgm:cxn modelId="{DD92F0A7-5049-4E08-9F92-341475EA994C}" type="presParOf" srcId="{87A3DB29-9538-4D01-9ACF-7DF7B1E3E5C8}" destId="{2F8B70C4-33E1-49BB-A2E2-43488F00DEEC}" srcOrd="1" destOrd="0" presId="urn:microsoft.com/office/officeart/2018/2/layout/IconVerticalSolidList"/>
    <dgm:cxn modelId="{9EF827DC-8597-4790-846B-17EE6B1D53F7}" type="presParOf" srcId="{87A3DB29-9538-4D01-9ACF-7DF7B1E3E5C8}" destId="{B23F21FC-5200-4D03-A100-18DA25014980}" srcOrd="2" destOrd="0" presId="urn:microsoft.com/office/officeart/2018/2/layout/IconVerticalSolidList"/>
    <dgm:cxn modelId="{A080348B-CCDC-4FE3-B510-FD7F73769272}" type="presParOf" srcId="{B23F21FC-5200-4D03-A100-18DA25014980}" destId="{C0F9BDE8-FAA7-456E-9D2C-312C96A8F122}" srcOrd="0" destOrd="0" presId="urn:microsoft.com/office/officeart/2018/2/layout/IconVerticalSolidList"/>
    <dgm:cxn modelId="{FAC00474-A1A9-4C25-A42B-BD5B4751DA35}" type="presParOf" srcId="{B23F21FC-5200-4D03-A100-18DA25014980}" destId="{87C44D7C-13BB-433A-AA52-EB52C923CB93}" srcOrd="1" destOrd="0" presId="urn:microsoft.com/office/officeart/2018/2/layout/IconVerticalSolidList"/>
    <dgm:cxn modelId="{5893FA4A-984E-4B95-AA12-7AD0A0910705}" type="presParOf" srcId="{B23F21FC-5200-4D03-A100-18DA25014980}" destId="{52653776-2571-49FD-ACCD-D49F4F71443E}" srcOrd="2" destOrd="0" presId="urn:microsoft.com/office/officeart/2018/2/layout/IconVerticalSolidList"/>
    <dgm:cxn modelId="{36ED7FD4-543D-4B02-9610-FC97653DAA72}" type="presParOf" srcId="{B23F21FC-5200-4D03-A100-18DA25014980}" destId="{B48FB8D8-6B37-492B-8021-0FACE1B18894}" srcOrd="3" destOrd="0" presId="urn:microsoft.com/office/officeart/2018/2/layout/IconVerticalSolidList"/>
    <dgm:cxn modelId="{1990816F-0A2A-4AE1-8F45-6B729958B21C}" type="presParOf" srcId="{87A3DB29-9538-4D01-9ACF-7DF7B1E3E5C8}" destId="{232233B8-C549-41C2-82A8-F6A23FF6BC73}" srcOrd="3" destOrd="0" presId="urn:microsoft.com/office/officeart/2018/2/layout/IconVerticalSolidList"/>
    <dgm:cxn modelId="{DA478C7D-0E2E-45BC-9D80-602FDC7F1FCC}" type="presParOf" srcId="{87A3DB29-9538-4D01-9ACF-7DF7B1E3E5C8}" destId="{B405DBCA-C162-4522-B918-0A3AF34B2309}" srcOrd="4" destOrd="0" presId="urn:microsoft.com/office/officeart/2018/2/layout/IconVerticalSolidList"/>
    <dgm:cxn modelId="{0860E5A8-82D3-49FA-865B-96766B9818EB}" type="presParOf" srcId="{B405DBCA-C162-4522-B918-0A3AF34B2309}" destId="{77E28E7E-705A-4CBF-A9C1-F282F96E552D}" srcOrd="0" destOrd="0" presId="urn:microsoft.com/office/officeart/2018/2/layout/IconVerticalSolidList"/>
    <dgm:cxn modelId="{428FDC25-071F-4B08-BFE1-2090E15C45D1}" type="presParOf" srcId="{B405DBCA-C162-4522-B918-0A3AF34B2309}" destId="{6E84782F-9C33-4BAC-9FC8-2712C41BAF6D}" srcOrd="1" destOrd="0" presId="urn:microsoft.com/office/officeart/2018/2/layout/IconVerticalSolidList"/>
    <dgm:cxn modelId="{7513F99F-15A2-4389-97F1-028656595CB4}" type="presParOf" srcId="{B405DBCA-C162-4522-B918-0A3AF34B2309}" destId="{97355EA6-0F09-4DBE-93E1-F1F660F79D36}" srcOrd="2" destOrd="0" presId="urn:microsoft.com/office/officeart/2018/2/layout/IconVerticalSolidList"/>
    <dgm:cxn modelId="{014E9C36-BB83-4311-9624-BBA7FEFC3D11}" type="presParOf" srcId="{B405DBCA-C162-4522-B918-0A3AF34B2309}" destId="{746BFC2F-41E6-4B93-AC2C-1835F62FD818}" srcOrd="3" destOrd="0" presId="urn:microsoft.com/office/officeart/2018/2/layout/IconVerticalSolidList"/>
    <dgm:cxn modelId="{36DDE927-48A8-4548-8ABD-BFCE9D0EF372}" type="presParOf" srcId="{87A3DB29-9538-4D01-9ACF-7DF7B1E3E5C8}" destId="{3EE730EC-EE97-467E-8725-C20A0627B9AA}" srcOrd="5" destOrd="0" presId="urn:microsoft.com/office/officeart/2018/2/layout/IconVerticalSolidList"/>
    <dgm:cxn modelId="{7F4D95E7-EA5F-4347-AF75-0B07413A2119}" type="presParOf" srcId="{87A3DB29-9538-4D01-9ACF-7DF7B1E3E5C8}" destId="{DC68118A-BC79-496C-B78A-3066D53F2D73}" srcOrd="6" destOrd="0" presId="urn:microsoft.com/office/officeart/2018/2/layout/IconVerticalSolidList"/>
    <dgm:cxn modelId="{7B7A6C93-E2FC-4718-8241-2F1EF0994AE4}" type="presParOf" srcId="{DC68118A-BC79-496C-B78A-3066D53F2D73}" destId="{5824BC2D-9ADE-47F7-AD05-4D3048030582}" srcOrd="0" destOrd="0" presId="urn:microsoft.com/office/officeart/2018/2/layout/IconVerticalSolidList"/>
    <dgm:cxn modelId="{7ECDB843-1646-49B9-875F-95BF82A35B39}" type="presParOf" srcId="{DC68118A-BC79-496C-B78A-3066D53F2D73}" destId="{F3E74BF6-1738-4897-991D-06DD5E8C2575}" srcOrd="1" destOrd="0" presId="urn:microsoft.com/office/officeart/2018/2/layout/IconVerticalSolidList"/>
    <dgm:cxn modelId="{01A231F8-6598-42E6-B31B-4900B73231E7}" type="presParOf" srcId="{DC68118A-BC79-496C-B78A-3066D53F2D73}" destId="{16C84A1E-F417-4248-834B-20D75B716A2B}" srcOrd="2" destOrd="0" presId="urn:microsoft.com/office/officeart/2018/2/layout/IconVerticalSolidList"/>
    <dgm:cxn modelId="{B52B7122-7C34-40E3-84D7-58D32ED611D0}" type="presParOf" srcId="{DC68118A-BC79-496C-B78A-3066D53F2D73}" destId="{DB357DB2-CEC4-4F6D-804A-06CCF740741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6781017" cy="143528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kern="1200" dirty="0"/>
            <a:t>Martin Romero</a:t>
          </a:r>
          <a:endParaRPr lang="es-CL" sz="1900" kern="1200" dirty="0"/>
        </a:p>
        <a:p>
          <a:pPr marL="114300" lvl="1" indent="-114300" algn="l" defTabSz="666750">
            <a:lnSpc>
              <a:spcPct val="90000"/>
            </a:lnSpc>
            <a:spcBef>
              <a:spcPct val="0"/>
            </a:spcBef>
            <a:spcAft>
              <a:spcPct val="15000"/>
            </a:spcAft>
            <a:buChar char="•"/>
          </a:pPr>
          <a:r>
            <a:rPr lang="es-CL" sz="1500" kern="1200" dirty="0"/>
            <a:t>Jefe de Proyecto / Administrador BD (DBA)</a:t>
          </a:r>
        </a:p>
        <a:p>
          <a:pPr marL="114300" lvl="1" indent="-114300" algn="l" defTabSz="666750">
            <a:lnSpc>
              <a:spcPct val="90000"/>
            </a:lnSpc>
            <a:spcBef>
              <a:spcPct val="0"/>
            </a:spcBef>
            <a:spcAft>
              <a:spcPct val="15000"/>
            </a:spcAft>
            <a:buChar char="•"/>
          </a:pPr>
          <a:r>
            <a:rPr lang="es-MX" sz="1500" kern="1200" dirty="0"/>
            <a:t>Funciones desempeñadas: </a:t>
          </a:r>
          <a:r>
            <a:rPr lang="es-CL" sz="1500" kern="1200" dirty="0"/>
            <a:t>Coordinación general del proyecto, seguimiento de hitos, relación con los </a:t>
          </a:r>
          <a:r>
            <a:rPr lang="es-CL" sz="1500" kern="1200" dirty="0" err="1"/>
            <a:t>stakeholders</a:t>
          </a:r>
          <a:r>
            <a:rPr lang="es-CL" sz="1500" kern="1200" dirty="0"/>
            <a:t> y diseño del modelo relacional en SQL Server.</a:t>
          </a:r>
        </a:p>
      </dsp:txBody>
      <dsp:txXfrm>
        <a:off x="1499732" y="0"/>
        <a:ext cx="5281284" cy="1435286"/>
      </dsp:txXfrm>
    </dsp:sp>
    <dsp:sp modelId="{9A7E2690-DE9C-4572-9BE5-B8C9A3B8BBB3}">
      <dsp:nvSpPr>
        <dsp:cNvPr id="0" name=""/>
        <dsp:cNvSpPr/>
      </dsp:nvSpPr>
      <dsp:spPr>
        <a:xfrm>
          <a:off x="143528" y="143528"/>
          <a:ext cx="1356203" cy="1148229"/>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1578814"/>
          <a:ext cx="6781017" cy="143528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L" sz="1900" kern="1200" dirty="0"/>
            <a:t>Abel González</a:t>
          </a:r>
        </a:p>
        <a:p>
          <a:pPr marL="114300" lvl="1" indent="-114300" algn="l" defTabSz="666750">
            <a:lnSpc>
              <a:spcPct val="90000"/>
            </a:lnSpc>
            <a:spcBef>
              <a:spcPct val="0"/>
            </a:spcBef>
            <a:spcAft>
              <a:spcPct val="15000"/>
            </a:spcAft>
            <a:buChar char="•"/>
          </a:pPr>
          <a:r>
            <a:rPr lang="es-MX" sz="1500" kern="1200" dirty="0"/>
            <a:t>Cargo: </a:t>
          </a:r>
          <a:r>
            <a:rPr lang="es-CL" sz="1500" kern="1200" dirty="0"/>
            <a:t>Gerente de Proyecto / Calidad (QA) / Diseñador UI-UX</a:t>
          </a:r>
        </a:p>
        <a:p>
          <a:pPr marL="114300" lvl="1" indent="-114300" algn="l" defTabSz="666750">
            <a:lnSpc>
              <a:spcPct val="90000"/>
            </a:lnSpc>
            <a:spcBef>
              <a:spcPct val="0"/>
            </a:spcBef>
            <a:spcAft>
              <a:spcPct val="15000"/>
            </a:spcAft>
            <a:buChar char="•"/>
          </a:pPr>
          <a:r>
            <a:rPr lang="es-MX" sz="1500" kern="1200" dirty="0"/>
            <a:t>Funciones desempeñadas: </a:t>
          </a:r>
          <a:r>
            <a:rPr lang="es-CL" sz="1500" kern="1200" dirty="0"/>
            <a:t>Diseño de interfaces responsivas y prototipos, ejecución de pruebas de software (Testing) y validación de usabilidad.</a:t>
          </a:r>
        </a:p>
      </dsp:txBody>
      <dsp:txXfrm>
        <a:off x="1499732" y="1578814"/>
        <a:ext cx="5281284" cy="1435286"/>
      </dsp:txXfrm>
    </dsp:sp>
    <dsp:sp modelId="{3F97C059-D720-4D48-953F-B84D04D0BF79}">
      <dsp:nvSpPr>
        <dsp:cNvPr id="0" name=""/>
        <dsp:cNvSpPr/>
      </dsp:nvSpPr>
      <dsp:spPr>
        <a:xfrm>
          <a:off x="143528" y="1722343"/>
          <a:ext cx="1356203" cy="1148229"/>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F6EA3109-3DED-4AF4-91BA-940DEFBF6AB6}">
      <dsp:nvSpPr>
        <dsp:cNvPr id="0" name=""/>
        <dsp:cNvSpPr/>
      </dsp:nvSpPr>
      <dsp:spPr>
        <a:xfrm>
          <a:off x="0" y="3157629"/>
          <a:ext cx="6781017" cy="143528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L" sz="1900" kern="1200" dirty="0"/>
            <a:t>Jean Coloma</a:t>
          </a:r>
        </a:p>
        <a:p>
          <a:pPr marL="114300" lvl="1" indent="-114300" algn="l" defTabSz="666750">
            <a:lnSpc>
              <a:spcPct val="90000"/>
            </a:lnSpc>
            <a:spcBef>
              <a:spcPct val="0"/>
            </a:spcBef>
            <a:spcAft>
              <a:spcPct val="15000"/>
            </a:spcAft>
            <a:buChar char="•"/>
          </a:pPr>
          <a:r>
            <a:rPr lang="es-CL" sz="1500" kern="1200" dirty="0"/>
            <a:t>Cargo: Analista Programador</a:t>
          </a:r>
        </a:p>
        <a:p>
          <a:pPr marL="114300" lvl="1" indent="-114300" algn="l" defTabSz="666750">
            <a:lnSpc>
              <a:spcPct val="90000"/>
            </a:lnSpc>
            <a:spcBef>
              <a:spcPct val="0"/>
            </a:spcBef>
            <a:spcAft>
              <a:spcPct val="15000"/>
            </a:spcAft>
            <a:buChar char="•"/>
          </a:pPr>
          <a:r>
            <a:rPr lang="es-CL" sz="1500" kern="1200" dirty="0"/>
            <a:t>Funciones desempeñadas: Análisis de requerimientos funcionales, programación de vistas (Razor) y desarrollo de la lógica de negocio en C# .NET.</a:t>
          </a:r>
        </a:p>
      </dsp:txBody>
      <dsp:txXfrm>
        <a:off x="1499732" y="3157629"/>
        <a:ext cx="5281284" cy="1435286"/>
      </dsp:txXfrm>
    </dsp:sp>
    <dsp:sp modelId="{504B6808-2EA0-4B63-AE60-779A9AA54E83}">
      <dsp:nvSpPr>
        <dsp:cNvPr id="0" name=""/>
        <dsp:cNvSpPr/>
      </dsp:nvSpPr>
      <dsp:spPr>
        <a:xfrm>
          <a:off x="143528" y="3301158"/>
          <a:ext cx="1356203" cy="1148229"/>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5D850-024C-4E39-8859-D30EDF4E2972}">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045DC-35C3-44F2-8D4C-C9756D0AD47F}">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3DDF57-9BC4-41FC-A000-C289B3EEA8F3}">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666750">
            <a:lnSpc>
              <a:spcPct val="90000"/>
            </a:lnSpc>
            <a:spcBef>
              <a:spcPct val="0"/>
            </a:spcBef>
            <a:spcAft>
              <a:spcPct val="35000"/>
            </a:spcAft>
            <a:buNone/>
          </a:pPr>
          <a:r>
            <a:rPr lang="es-CL" sz="1500" b="1" kern="1200"/>
            <a:t>Backend (Lógica de Negocio):</a:t>
          </a:r>
          <a:r>
            <a:rPr lang="es-CL" sz="1500" kern="1200"/>
            <a:t> Desarrollado en </a:t>
          </a:r>
          <a:r>
            <a:rPr lang="es-CL" sz="1500" b="1" kern="1200"/>
            <a:t>C#</a:t>
          </a:r>
          <a:r>
            <a:rPr lang="es-CL" sz="1500" kern="1200"/>
            <a:t> utilizando el framework </a:t>
          </a:r>
          <a:r>
            <a:rPr lang="es-CL" sz="1500" b="1" kern="1200"/>
            <a:t>.NET Core 8</a:t>
          </a:r>
          <a:r>
            <a:rPr lang="es-CL" sz="1500" kern="1200"/>
            <a:t>. Esto permite estructurar el sistema bajo una sólida arquitectura en 3 capas (Presentación, Lógica y Datos) mediante APIs RESTful. </a:t>
          </a:r>
          <a:endParaRPr lang="en-US" sz="1500" kern="1200"/>
        </a:p>
      </dsp:txBody>
      <dsp:txXfrm>
        <a:off x="1357965" y="2319"/>
        <a:ext cx="4887299" cy="1175727"/>
      </dsp:txXfrm>
    </dsp:sp>
    <dsp:sp modelId="{C0F9BDE8-FAA7-456E-9D2C-312C96A8F122}">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C44D7C-13BB-433A-AA52-EB52C923CB93}">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8FB8D8-6B37-492B-8021-0FACE1B18894}">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666750">
            <a:lnSpc>
              <a:spcPct val="90000"/>
            </a:lnSpc>
            <a:spcBef>
              <a:spcPct val="0"/>
            </a:spcBef>
            <a:spcAft>
              <a:spcPct val="35000"/>
            </a:spcAft>
            <a:buNone/>
          </a:pPr>
          <a:r>
            <a:rPr lang="es-CL" sz="1500" b="1" kern="1200"/>
            <a:t>Frontend (Interfaz de Usuario):</a:t>
          </a:r>
          <a:r>
            <a:rPr lang="es-CL" sz="1500" kern="1200"/>
            <a:t> Vistas construidas con </a:t>
          </a:r>
          <a:r>
            <a:rPr lang="es-CL" sz="1500" b="1" kern="1200"/>
            <a:t>Razor</a:t>
          </a:r>
          <a:r>
            <a:rPr lang="es-CL" sz="1500" kern="1200"/>
            <a:t>, integrando </a:t>
          </a:r>
          <a:r>
            <a:rPr lang="es-CL" sz="1500" b="1" kern="1200"/>
            <a:t>HTML5, CSS3, TypeScript y Bootstrap 5</a:t>
          </a:r>
          <a:r>
            <a:rPr lang="es-CL" sz="1500" kern="1200"/>
            <a:t>. Esto asegura que la plataforma sea 100% responsiva y adaptable a computadores, tablets y móviles. </a:t>
          </a:r>
          <a:endParaRPr lang="en-US" sz="1500" kern="1200"/>
        </a:p>
      </dsp:txBody>
      <dsp:txXfrm>
        <a:off x="1357965" y="1471979"/>
        <a:ext cx="4887299" cy="1175727"/>
      </dsp:txXfrm>
    </dsp:sp>
    <dsp:sp modelId="{77E28E7E-705A-4CBF-A9C1-F282F96E552D}">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84782F-9C33-4BAC-9FC8-2712C41BAF6D}">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BFC2F-41E6-4B93-AC2C-1835F62FD818}">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666750">
            <a:lnSpc>
              <a:spcPct val="90000"/>
            </a:lnSpc>
            <a:spcBef>
              <a:spcPct val="0"/>
            </a:spcBef>
            <a:spcAft>
              <a:spcPct val="35000"/>
            </a:spcAft>
            <a:buNone/>
          </a:pPr>
          <a:r>
            <a:rPr lang="es-CL" sz="1500" b="1" kern="1200"/>
            <a:t>Base de Datos:</a:t>
          </a:r>
          <a:r>
            <a:rPr lang="es-CL" sz="1500" kern="1200"/>
            <a:t> </a:t>
          </a:r>
          <a:r>
            <a:rPr lang="es-CL" sz="1500" b="1" kern="1200"/>
            <a:t>Microsoft SQL Server</a:t>
          </a:r>
          <a:r>
            <a:rPr lang="es-CL" sz="1500" kern="1200"/>
            <a:t>, encargado del almacenamiento persistente y seguro. La comunicación se realiza mediante cadenas encriptadas, ejecutando procedimientos almacenados en T-SQL. </a:t>
          </a:r>
          <a:endParaRPr lang="en-US" sz="1500" kern="1200"/>
        </a:p>
      </dsp:txBody>
      <dsp:txXfrm>
        <a:off x="1357965" y="2941639"/>
        <a:ext cx="4887299" cy="1175727"/>
      </dsp:txXfrm>
    </dsp:sp>
    <dsp:sp modelId="{5824BC2D-9ADE-47F7-AD05-4D3048030582}">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74BF6-1738-4897-991D-06DD5E8C2575}">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357DB2-CEC4-4F6D-804A-06CCF740741F}">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666750">
            <a:lnSpc>
              <a:spcPct val="90000"/>
            </a:lnSpc>
            <a:spcBef>
              <a:spcPct val="0"/>
            </a:spcBef>
            <a:spcAft>
              <a:spcPct val="35000"/>
            </a:spcAft>
            <a:buNone/>
          </a:pPr>
          <a:r>
            <a:rPr lang="es-CL" sz="1500" b="1" kern="1200"/>
            <a:t>Herramientas de Gestión y Entorno:</a:t>
          </a:r>
          <a:r>
            <a:rPr lang="es-CL" sz="1500" kern="1200"/>
            <a:t> Entornos de desarrollo </a:t>
          </a:r>
          <a:r>
            <a:rPr lang="es-CL" sz="1500" b="1" kern="1200"/>
            <a:t>Visual Studio / VS Code</a:t>
          </a:r>
          <a:r>
            <a:rPr lang="es-CL" sz="1500" kern="1200"/>
            <a:t>; </a:t>
          </a:r>
          <a:r>
            <a:rPr lang="es-CL" sz="1500" b="1" kern="1200"/>
            <a:t>Trello</a:t>
          </a:r>
          <a:r>
            <a:rPr lang="es-CL" sz="1500" kern="1200"/>
            <a:t> para la gestión de las iteraciones semanales bajo la metodología ágil Scrum; y </a:t>
          </a:r>
          <a:r>
            <a:rPr lang="es-CL" sz="1500" b="1" kern="1200"/>
            <a:t>Canva</a:t>
          </a:r>
          <a:r>
            <a:rPr lang="es-CL" sz="1500" kern="1200"/>
            <a:t> para el prototipado y diseño UI/UX. </a:t>
          </a:r>
          <a:endParaRPr lang="en-US" sz="1500" kern="1200"/>
        </a:p>
      </dsp:txBody>
      <dsp:txXfrm>
        <a:off x="1357965" y="4411299"/>
        <a:ext cx="4887299" cy="1175727"/>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08-09-2026</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716321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08-09-2026</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3178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C56040A3-26B0-41B9-8D0E-A6E2BE76A0F6}" type="datetimeFigureOut">
              <a:rPr lang="es-CL" smtClean="0"/>
              <a:t>08-09-2026</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2467895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p:cNvSpPr>
            <a:spLocks noGrp="1"/>
          </p:cNvSpPr>
          <p:nvPr>
            <p:ph type="dt" sz="half" idx="10"/>
          </p:nvPr>
        </p:nvSpPr>
        <p:spPr/>
        <p:txBody>
          <a:bodyPr/>
          <a:lstStyle/>
          <a:p>
            <a:fld id="{C56040A3-26B0-41B9-8D0E-A6E2BE76A0F6}" type="datetimeFigureOut">
              <a:rPr lang="es-CL" smtClean="0"/>
              <a:t>08-09-2026</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298738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p:cNvSpPr>
            <a:spLocks noGrp="1"/>
          </p:cNvSpPr>
          <p:nvPr>
            <p:ph type="dt" sz="half" idx="10"/>
          </p:nvPr>
        </p:nvSpPr>
        <p:spPr/>
        <p:txBody>
          <a:bodyPr/>
          <a:lstStyle/>
          <a:p>
            <a:fld id="{C56040A3-26B0-41B9-8D0E-A6E2BE76A0F6}" type="datetimeFigureOut">
              <a:rPr lang="es-CL" smtClean="0"/>
              <a:t>08-09-2026</a:t>
            </a:fld>
            <a:endParaRPr lang="es-CL"/>
          </a:p>
        </p:txBody>
      </p:sp>
      <p:sp>
        <p:nvSpPr>
          <p:cNvPr id="8" name="Marcador de pie de página 7"/>
          <p:cNvSpPr>
            <a:spLocks noGrp="1"/>
          </p:cNvSpPr>
          <p:nvPr>
            <p:ph type="ftr" sz="quarter" idx="11"/>
          </p:nvPr>
        </p:nvSpPr>
        <p:spPr/>
        <p:txBody>
          <a:bodyPr/>
          <a:lstStyle/>
          <a:p>
            <a:endParaRPr lang="es-CL"/>
          </a:p>
        </p:txBody>
      </p:sp>
      <p:sp>
        <p:nvSpPr>
          <p:cNvPr id="9" name="Marcador de número de diapositiva 8"/>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30727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fecha 2"/>
          <p:cNvSpPr>
            <a:spLocks noGrp="1"/>
          </p:cNvSpPr>
          <p:nvPr>
            <p:ph type="dt" sz="half" idx="10"/>
          </p:nvPr>
        </p:nvSpPr>
        <p:spPr/>
        <p:txBody>
          <a:bodyPr/>
          <a:lstStyle/>
          <a:p>
            <a:fld id="{C56040A3-26B0-41B9-8D0E-A6E2BE76A0F6}" type="datetimeFigureOut">
              <a:rPr lang="es-CL" smtClean="0"/>
              <a:t>08-09-2026</a:t>
            </a:fld>
            <a:endParaRPr lang="es-CL"/>
          </a:p>
        </p:txBody>
      </p:sp>
      <p:sp>
        <p:nvSpPr>
          <p:cNvPr id="4" name="Marcador de pie de página 3"/>
          <p:cNvSpPr>
            <a:spLocks noGrp="1"/>
          </p:cNvSpPr>
          <p:nvPr>
            <p:ph type="ftr" sz="quarter" idx="11"/>
          </p:nvPr>
        </p:nvSpPr>
        <p:spPr/>
        <p:txBody>
          <a:bodyPr/>
          <a:lstStyle/>
          <a:p>
            <a:endParaRPr lang="es-CL"/>
          </a:p>
        </p:txBody>
      </p:sp>
      <p:sp>
        <p:nvSpPr>
          <p:cNvPr id="5" name="Marcador de número de diapositiva 4"/>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967012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56040A3-26B0-41B9-8D0E-A6E2BE76A0F6}" type="datetimeFigureOut">
              <a:rPr lang="es-CL" smtClean="0"/>
              <a:t>08-09-2026</a:t>
            </a:fld>
            <a:endParaRPr lang="es-CL"/>
          </a:p>
        </p:txBody>
      </p:sp>
      <p:sp>
        <p:nvSpPr>
          <p:cNvPr id="3" name="Marcador de pie de página 2"/>
          <p:cNvSpPr>
            <a:spLocks noGrp="1"/>
          </p:cNvSpPr>
          <p:nvPr>
            <p:ph type="ftr" sz="quarter" idx="11"/>
          </p:nvPr>
        </p:nvSpPr>
        <p:spPr/>
        <p:txBody>
          <a:bodyPr/>
          <a:lstStyle/>
          <a:p>
            <a:endParaRPr lang="es-CL"/>
          </a:p>
        </p:txBody>
      </p:sp>
      <p:sp>
        <p:nvSpPr>
          <p:cNvPr id="4" name="Marcador de número de diapositiva 3"/>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400558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C56040A3-26B0-41B9-8D0E-A6E2BE76A0F6}" type="datetimeFigureOut">
              <a:rPr lang="es-CL" smtClean="0"/>
              <a:t>08-09-2026</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06001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C56040A3-26B0-41B9-8D0E-A6E2BE76A0F6}" type="datetimeFigureOut">
              <a:rPr lang="es-CL" smtClean="0"/>
              <a:t>08-09-2026</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98732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08-09-2026</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34699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08-09-2026</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128879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6040A3-26B0-41B9-8D0E-A6E2BE76A0F6}" type="datetimeFigureOut">
              <a:rPr lang="es-CL" smtClean="0"/>
              <a:t>08-09-2026</a:t>
            </a:fld>
            <a:endParaRPr lang="es-C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6B74D-EAB3-419D-9AFB-7734616CA1B2}" type="slidenum">
              <a:rPr lang="es-CL" smtClean="0"/>
              <a:t>‹Nº›</a:t>
            </a:fld>
            <a:endParaRPr lang="es-CL"/>
          </a:p>
        </p:txBody>
      </p:sp>
    </p:spTree>
    <p:extLst>
      <p:ext uri="{BB962C8B-B14F-4D97-AF65-F5344CB8AC3E}">
        <p14:creationId xmlns:p14="http://schemas.microsoft.com/office/powerpoint/2010/main" val="2212017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07886" y="1398133"/>
            <a:ext cx="9144000" cy="1620837"/>
          </a:xfrm>
        </p:spPr>
        <p:txBody>
          <a:bodyPr>
            <a:normAutofit fontScale="90000"/>
          </a:bodyPr>
          <a:lstStyle/>
          <a:p>
            <a:r>
              <a:rPr lang="es-CL" dirty="0"/>
              <a:t>Presentación Portafolio Titulo</a:t>
            </a:r>
            <a:br>
              <a:rPr lang="es-CL" dirty="0"/>
            </a:br>
            <a:r>
              <a:rPr lang="es-CL" sz="3200" dirty="0"/>
              <a:t>ReserveHub</a:t>
            </a:r>
          </a:p>
        </p:txBody>
      </p:sp>
      <p:sp>
        <p:nvSpPr>
          <p:cNvPr id="3" name="Subtítulo 2"/>
          <p:cNvSpPr>
            <a:spLocks noGrp="1"/>
          </p:cNvSpPr>
          <p:nvPr>
            <p:ph type="subTitle" idx="1"/>
          </p:nvPr>
        </p:nvSpPr>
        <p:spPr>
          <a:xfrm>
            <a:off x="1524000" y="3562999"/>
            <a:ext cx="9144000" cy="1620837"/>
          </a:xfrm>
        </p:spPr>
        <p:txBody>
          <a:bodyPr>
            <a:noAutofit/>
          </a:bodyPr>
          <a:lstStyle/>
          <a:p>
            <a:r>
              <a:rPr lang="es-CL" sz="3200" dirty="0"/>
              <a:t>Ingeniería Informática</a:t>
            </a:r>
          </a:p>
          <a:p>
            <a:r>
              <a:rPr lang="es-CL" sz="1400" dirty="0"/>
              <a:t>Escuela de Informática y Telecomunicaciones</a:t>
            </a:r>
          </a:p>
          <a:p>
            <a:r>
              <a:rPr lang="es-CL" sz="1400" dirty="0"/>
              <a:t>Sede Puente Alto</a:t>
            </a:r>
          </a:p>
          <a:p>
            <a:r>
              <a:rPr lang="es-CL" sz="1400" dirty="0"/>
              <a:t>2026</a:t>
            </a:r>
          </a:p>
          <a:p>
            <a:endParaRPr lang="es-CL" sz="1400" dirty="0"/>
          </a:p>
          <a:p>
            <a:endParaRPr lang="es-CL" sz="1400" dirty="0"/>
          </a:p>
        </p:txBody>
      </p:sp>
    </p:spTree>
    <p:extLst>
      <p:ext uri="{BB962C8B-B14F-4D97-AF65-F5344CB8AC3E}">
        <p14:creationId xmlns:p14="http://schemas.microsoft.com/office/powerpoint/2010/main" val="215143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5D7939A-BC7B-E516-681B-96044152210D}"/>
              </a:ext>
            </a:extLst>
          </p:cNvPr>
          <p:cNvSpPr txBox="1"/>
          <p:nvPr/>
        </p:nvSpPr>
        <p:spPr>
          <a:xfrm>
            <a:off x="555827" y="2315666"/>
            <a:ext cx="2993823" cy="1200329"/>
          </a:xfrm>
          <a:prstGeom prst="rect">
            <a:avLst/>
          </a:prstGeom>
          <a:noFill/>
        </p:spPr>
        <p:txBody>
          <a:bodyPr wrap="square" rtlCol="0">
            <a:spAutoFit/>
          </a:bodyPr>
          <a:lstStyle/>
          <a:p>
            <a:pPr algn="ctr"/>
            <a:r>
              <a:rPr lang="es-MX" sz="3600" dirty="0"/>
              <a:t>INTEGRANTES DEL PROYECTO</a:t>
            </a:r>
            <a:endParaRPr lang="es-CL" dirty="0"/>
          </a:p>
        </p:txBody>
      </p:sp>
      <p:graphicFrame>
        <p:nvGraphicFramePr>
          <p:cNvPr id="10" name="Diagrama 9">
            <a:extLst>
              <a:ext uri="{FF2B5EF4-FFF2-40B4-BE49-F238E27FC236}">
                <a16:creationId xmlns:a16="http://schemas.microsoft.com/office/drawing/2014/main" id="{61689694-AE1D-7F59-36B7-DCF4483D5ECA}"/>
              </a:ext>
            </a:extLst>
          </p:cNvPr>
          <p:cNvGraphicFramePr/>
          <p:nvPr>
            <p:extLst>
              <p:ext uri="{D42A27DB-BD31-4B8C-83A1-F6EECF244321}">
                <p14:modId xmlns:p14="http://schemas.microsoft.com/office/powerpoint/2010/main" val="1163267904"/>
              </p:ext>
            </p:extLst>
          </p:nvPr>
        </p:nvGraphicFramePr>
        <p:xfrm>
          <a:off x="4082926" y="1382434"/>
          <a:ext cx="6781017" cy="45929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359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25659" y="1110713"/>
            <a:ext cx="10515600" cy="718087"/>
          </a:xfrm>
        </p:spPr>
        <p:txBody>
          <a:bodyPr/>
          <a:lstStyle/>
          <a:p>
            <a:r>
              <a:rPr lang="es-CL" dirty="0"/>
              <a:t>Descripción del Proyecto</a:t>
            </a:r>
          </a:p>
        </p:txBody>
      </p:sp>
      <p:sp>
        <p:nvSpPr>
          <p:cNvPr id="2" name="Rectángulo: esquinas redondeadas 1">
            <a:extLst>
              <a:ext uri="{FF2B5EF4-FFF2-40B4-BE49-F238E27FC236}">
                <a16:creationId xmlns:a16="http://schemas.microsoft.com/office/drawing/2014/main" id="{3CAAA338-F429-9042-FFA7-A873477A3F80}"/>
              </a:ext>
            </a:extLst>
          </p:cNvPr>
          <p:cNvSpPr/>
          <p:nvPr/>
        </p:nvSpPr>
        <p:spPr>
          <a:xfrm>
            <a:off x="714909" y="2169769"/>
            <a:ext cx="4427360"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Problemática</a:t>
            </a:r>
          </a:p>
          <a:p>
            <a:pPr lvl="0" algn="just"/>
            <a:br>
              <a:rPr lang="es-MX" sz="1800" dirty="0"/>
            </a:br>
            <a:r>
              <a:rPr lang="es-CL" dirty="0"/>
              <a:t>Dificultad de las instituciones para gestionar reservas, horarios y usuarios de manera eficiente.</a:t>
            </a:r>
          </a:p>
          <a:p>
            <a:pPr lvl="0" algn="just"/>
            <a:r>
              <a:rPr lang="es-CL" dirty="0"/>
              <a:t>Pérdida y duplicidad de información debido a la falta de un sistema unificado y centralizado.</a:t>
            </a:r>
          </a:p>
          <a:p>
            <a:pPr lvl="0" algn="just"/>
            <a:r>
              <a:rPr lang="es-CL" dirty="0"/>
              <a:t>Baja satisfacción de los usuarios por errores de planificación y ausencia de notificaciones automáticas sobre sus solicitudes.</a:t>
            </a:r>
          </a:p>
          <a:p>
            <a:pPr algn="just"/>
            <a:endParaRPr lang="es-CL" sz="1800" dirty="0"/>
          </a:p>
        </p:txBody>
      </p:sp>
      <p:sp>
        <p:nvSpPr>
          <p:cNvPr id="3" name="Rectángulo: esquinas redondeadas 2">
            <a:extLst>
              <a:ext uri="{FF2B5EF4-FFF2-40B4-BE49-F238E27FC236}">
                <a16:creationId xmlns:a16="http://schemas.microsoft.com/office/drawing/2014/main" id="{066F7A35-626F-23CE-7A47-1D8E5CBBB80B}"/>
              </a:ext>
            </a:extLst>
          </p:cNvPr>
          <p:cNvSpPr/>
          <p:nvPr/>
        </p:nvSpPr>
        <p:spPr>
          <a:xfrm>
            <a:off x="6912079" y="2177325"/>
            <a:ext cx="4641292"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just"/>
            <a:br>
              <a:rPr lang="es-MX" dirty="0"/>
            </a:br>
            <a:r>
              <a:rPr lang="es-MX" dirty="0"/>
              <a:t>Desarrollar ReserveHub, una aplicación web segura construida bajo una arquitectura en 3 capas.</a:t>
            </a:r>
          </a:p>
          <a:p>
            <a:pPr lvl="0" algn="just"/>
            <a:r>
              <a:rPr lang="es-MX" dirty="0"/>
              <a:t>Centralizar la operación mediante mantenedores para que el administrador gestione reservas y servicios en tiempo real.</a:t>
            </a:r>
          </a:p>
          <a:p>
            <a:pPr lvl="0" algn="just"/>
            <a:r>
              <a:rPr lang="es-MX" dirty="0"/>
              <a:t>Proveer una interfaz responsiva que incluya un motor de reportes exportables y envío de alertas automáticas (correo/móvil).</a:t>
            </a:r>
          </a:p>
          <a:p>
            <a:pPr lvl="0" algn="just"/>
            <a:endParaRPr lang="es-CL" sz="1800" dirty="0"/>
          </a:p>
        </p:txBody>
      </p:sp>
      <p:sp>
        <p:nvSpPr>
          <p:cNvPr id="6" name="Flecha: a la derecha 5">
            <a:extLst>
              <a:ext uri="{FF2B5EF4-FFF2-40B4-BE49-F238E27FC236}">
                <a16:creationId xmlns:a16="http://schemas.microsoft.com/office/drawing/2014/main" id="{8FB58451-B5D0-BDE6-FFE9-4D940E71256C}"/>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11309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1F1CFDA6-4B15-1117-A158-08C7A7DC2C2C}"/>
              </a:ext>
            </a:extLst>
          </p:cNvPr>
          <p:cNvSpPr/>
          <p:nvPr/>
        </p:nvSpPr>
        <p:spPr>
          <a:xfrm>
            <a:off x="614515" y="2040571"/>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MX" dirty="0"/>
              <a:t>Diseñar e implementar "ReserveHub", una aplicación web escalable con módulos de autenticación, gestión de usuarios, reservas en tiempo real y reportes, orientada a optimizar la administración de recursos y tiempos institucionales.</a:t>
            </a:r>
            <a:endParaRPr lang="es-CL" dirty="0"/>
          </a:p>
        </p:txBody>
      </p:sp>
      <p:sp>
        <p:nvSpPr>
          <p:cNvPr id="3" name="Rectángulo: esquinas redondeadas 2">
            <a:extLst>
              <a:ext uri="{FF2B5EF4-FFF2-40B4-BE49-F238E27FC236}">
                <a16:creationId xmlns:a16="http://schemas.microsoft.com/office/drawing/2014/main" id="{68ECD55C-14AF-66FA-ED98-BC5A00C9EF6C}"/>
              </a:ext>
            </a:extLst>
          </p:cNvPr>
          <p:cNvSpPr/>
          <p:nvPr/>
        </p:nvSpPr>
        <p:spPr>
          <a:xfrm>
            <a:off x="614514" y="47324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MX" dirty="0"/>
              <a:t>Implementar operaciones CRUD completas para otorgar total autonomía de gestión al administrador.</a:t>
            </a:r>
          </a:p>
          <a:p>
            <a:pPr algn="just"/>
            <a:r>
              <a:rPr lang="es-MX" dirty="0"/>
              <a:t>Desarrollar un módulo centralizado que valide la disponibilidad de horarios evitando el solapamiento de reservas.</a:t>
            </a:r>
          </a:p>
          <a:p>
            <a:pPr algn="just"/>
            <a:r>
              <a:rPr lang="es-MX" dirty="0"/>
              <a:t>Incorporar altos estándares de seguridad mediante el enmascaramiento de claves, control de sesiones y perfiles de acceso.</a:t>
            </a:r>
          </a:p>
          <a:p>
            <a:pPr algn="just"/>
            <a:r>
              <a:rPr lang="es-MX" dirty="0"/>
              <a:t>Asegurar compatibilidad multiplataforma e integrar la exportación de historiales a formatos PDF y Excel.</a:t>
            </a:r>
          </a:p>
          <a:p>
            <a:pPr algn="ctr"/>
            <a:endParaRPr lang="es-CL" dirty="0"/>
          </a:p>
        </p:txBody>
      </p:sp>
      <p:sp>
        <p:nvSpPr>
          <p:cNvPr id="5" name="CuadroTexto 4">
            <a:extLst>
              <a:ext uri="{FF2B5EF4-FFF2-40B4-BE49-F238E27FC236}">
                <a16:creationId xmlns:a16="http://schemas.microsoft.com/office/drawing/2014/main" id="{5EF79C96-AB81-4E82-DFF5-8BABB8C6C3B1}"/>
              </a:ext>
            </a:extLst>
          </p:cNvPr>
          <p:cNvSpPr txBox="1"/>
          <p:nvPr/>
        </p:nvSpPr>
        <p:spPr>
          <a:xfrm>
            <a:off x="152400" y="1197198"/>
            <a:ext cx="11938000" cy="646331"/>
          </a:xfrm>
          <a:prstGeom prst="rect">
            <a:avLst/>
          </a:prstGeom>
          <a:noFill/>
        </p:spPr>
        <p:txBody>
          <a:bodyPr wrap="square" rtlCol="0">
            <a:spAutoFit/>
          </a:bodyPr>
          <a:lstStyle/>
          <a:p>
            <a:pPr algn="ctr"/>
            <a:r>
              <a:rPr lang="es-MX" sz="3600" dirty="0"/>
              <a:t>Objetivo General</a:t>
            </a:r>
            <a:endParaRPr lang="es-CL" dirty="0"/>
          </a:p>
        </p:txBody>
      </p:sp>
      <p:sp>
        <p:nvSpPr>
          <p:cNvPr id="6" name="CuadroTexto 5">
            <a:extLst>
              <a:ext uri="{FF2B5EF4-FFF2-40B4-BE49-F238E27FC236}">
                <a16:creationId xmlns:a16="http://schemas.microsoft.com/office/drawing/2014/main" id="{F5A578C5-359E-EE93-4566-7B93CDA5020B}"/>
              </a:ext>
            </a:extLst>
          </p:cNvPr>
          <p:cNvSpPr txBox="1"/>
          <p:nvPr/>
        </p:nvSpPr>
        <p:spPr>
          <a:xfrm>
            <a:off x="152400" y="4009875"/>
            <a:ext cx="11938000" cy="646331"/>
          </a:xfrm>
          <a:prstGeom prst="rect">
            <a:avLst/>
          </a:prstGeom>
          <a:noFill/>
        </p:spPr>
        <p:txBody>
          <a:bodyPr wrap="square" rtlCol="0">
            <a:spAutoFit/>
          </a:bodyPr>
          <a:lstStyle/>
          <a:p>
            <a:pPr algn="ctr"/>
            <a:r>
              <a:rPr lang="es-MX" sz="3600" dirty="0"/>
              <a:t>Objetivos Específicos</a:t>
            </a:r>
            <a:endParaRPr lang="es-CL" dirty="0"/>
          </a:p>
        </p:txBody>
      </p:sp>
    </p:spTree>
    <p:extLst>
      <p:ext uri="{BB962C8B-B14F-4D97-AF65-F5344CB8AC3E}">
        <p14:creationId xmlns:p14="http://schemas.microsoft.com/office/powerpoint/2010/main" val="74292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10065" y="809447"/>
            <a:ext cx="10515600" cy="750840"/>
          </a:xfrm>
        </p:spPr>
        <p:txBody>
          <a:bodyPr/>
          <a:lstStyle/>
          <a:p>
            <a:r>
              <a:rPr lang="es-CL" dirty="0"/>
              <a:t>Alcances</a:t>
            </a:r>
          </a:p>
        </p:txBody>
      </p:sp>
      <p:sp>
        <p:nvSpPr>
          <p:cNvPr id="5" name="CuadroTexto 4"/>
          <p:cNvSpPr txBox="1"/>
          <p:nvPr/>
        </p:nvSpPr>
        <p:spPr>
          <a:xfrm>
            <a:off x="914374" y="1664801"/>
            <a:ext cx="10072940" cy="3416320"/>
          </a:xfrm>
          <a:prstGeom prst="rect">
            <a:avLst/>
          </a:prstGeom>
          <a:noFill/>
        </p:spPr>
        <p:txBody>
          <a:bodyPr wrap="square" rtlCol="0">
            <a:spAutoFit/>
          </a:bodyPr>
          <a:lstStyle/>
          <a:p>
            <a:pPr algn="just"/>
            <a:r>
              <a:rPr lang="es-CL" dirty="0"/>
              <a:t>Que hace el Sistema:</a:t>
            </a:r>
          </a:p>
          <a:p>
            <a:pPr algn="just"/>
            <a:r>
              <a:rPr lang="es-MX" dirty="0"/>
              <a:t>Gestión centralizada de reservas de recursos y horarios en tiempo real, evitando solapamientos. </a:t>
            </a:r>
          </a:p>
          <a:p>
            <a:pPr algn="just"/>
            <a:r>
              <a:rPr lang="es-MX" dirty="0"/>
              <a:t>Autenticación de usuarios, gestión de perfiles de acceso y trazabilidad de auditoría de sesiones. </a:t>
            </a:r>
          </a:p>
          <a:p>
            <a:pPr algn="just"/>
            <a:r>
              <a:rPr lang="es-MX" dirty="0"/>
              <a:t>Mantenedores CRUD (Crear, Leer, Actualizar, Eliminar) completos para administrar usuarios, roles y servicios. </a:t>
            </a:r>
          </a:p>
          <a:p>
            <a:pPr algn="just"/>
            <a:r>
              <a:rPr lang="es-MX" dirty="0"/>
              <a:t>Envío de notificaciones automáticas y generación de reportes con filtros exportables a PDF y XLS.</a:t>
            </a:r>
            <a:endParaRPr lang="es-CL" dirty="0"/>
          </a:p>
          <a:p>
            <a:pPr algn="just"/>
            <a:endParaRPr lang="es-CL" dirty="0"/>
          </a:p>
          <a:p>
            <a:pPr algn="just"/>
            <a:r>
              <a:rPr lang="es-CL" dirty="0"/>
              <a:t>Qué no hace:</a:t>
            </a:r>
          </a:p>
          <a:p>
            <a:pPr algn="just"/>
            <a:r>
              <a:rPr lang="es-MX" dirty="0"/>
              <a:t>No gestionará transacciones de pago en línea en esta primera etapa. </a:t>
            </a:r>
          </a:p>
          <a:p>
            <a:pPr algn="just"/>
            <a:r>
              <a:rPr lang="es-MX" dirty="0"/>
              <a:t>No incluirá aplicaciones móviles nativas (Android/iOS), operando exclusivamente como aplicación web responsiva. </a:t>
            </a:r>
            <a:endParaRPr lang="es-CL" dirty="0"/>
          </a:p>
          <a:p>
            <a:endParaRPr lang="es-CL" dirty="0"/>
          </a:p>
        </p:txBody>
      </p:sp>
    </p:spTree>
    <p:extLst>
      <p:ext uri="{BB962C8B-B14F-4D97-AF65-F5344CB8AC3E}">
        <p14:creationId xmlns:p14="http://schemas.microsoft.com/office/powerpoint/2010/main" val="4008041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41416" y="1054442"/>
            <a:ext cx="10515600" cy="752587"/>
          </a:xfrm>
        </p:spPr>
        <p:txBody>
          <a:bodyPr/>
          <a:lstStyle/>
          <a:p>
            <a:r>
              <a:rPr lang="es-CL" dirty="0"/>
              <a:t>Usuarios</a:t>
            </a:r>
          </a:p>
        </p:txBody>
      </p:sp>
      <p:sp>
        <p:nvSpPr>
          <p:cNvPr id="2" name="Rectángulo: esquinas redondeadas 1">
            <a:extLst>
              <a:ext uri="{FF2B5EF4-FFF2-40B4-BE49-F238E27FC236}">
                <a16:creationId xmlns:a16="http://schemas.microsoft.com/office/drawing/2014/main" id="{E3D74629-6040-F658-DDEF-7F56A5261CFD}"/>
              </a:ext>
            </a:extLst>
          </p:cNvPr>
          <p:cNvSpPr/>
          <p:nvPr/>
        </p:nvSpPr>
        <p:spPr>
          <a:xfrm>
            <a:off x="839487" y="1923143"/>
            <a:ext cx="10365542" cy="43325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MX" dirty="0"/>
              <a:t>Administrador: Posee acceso total a la plataforma. Es responsable de operar los mantenedores, asignar roles, gestionar parámetros del sistema, emitir reportes y revisar la auditoría de actividades. </a:t>
            </a:r>
          </a:p>
          <a:p>
            <a:pPr algn="just"/>
            <a:endParaRPr lang="es-MX" dirty="0"/>
          </a:p>
          <a:p>
            <a:pPr algn="just"/>
            <a:r>
              <a:rPr lang="es-MX" dirty="0"/>
              <a:t>Coordinador: Encargado de la supervisión directa de los servicios ofrecidos. Verifica la disponibilidad de recursos y lleva la trazabilidad de las reservas y solicitudes de su área. </a:t>
            </a:r>
          </a:p>
          <a:p>
            <a:pPr algn="just"/>
            <a:endParaRPr lang="es-MX" dirty="0"/>
          </a:p>
          <a:p>
            <a:pPr algn="just"/>
            <a:r>
              <a:rPr lang="es-MX" dirty="0"/>
              <a:t>Estudiante / Cliente: Usuario final que realiza búsquedas de disponibilidad, agenda reservas, gestiona su perfil de datos y recibe las notificaciones y alertas automáticas del sistema. </a:t>
            </a:r>
          </a:p>
          <a:p>
            <a:pPr algn="ctr"/>
            <a:endParaRPr lang="es-CL" dirty="0"/>
          </a:p>
        </p:txBody>
      </p:sp>
    </p:spTree>
    <p:extLst>
      <p:ext uri="{BB962C8B-B14F-4D97-AF65-F5344CB8AC3E}">
        <p14:creationId xmlns:p14="http://schemas.microsoft.com/office/powerpoint/2010/main" val="150409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81D5-E25F-22F7-E67C-19AB3A8EE74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58FA53D1-9FB3-E887-DC95-29BBC6FBF956}"/>
              </a:ext>
            </a:extLst>
          </p:cNvPr>
          <p:cNvSpPr>
            <a:spLocks noGrp="1"/>
          </p:cNvSpPr>
          <p:nvPr>
            <p:ph type="title"/>
          </p:nvPr>
        </p:nvSpPr>
        <p:spPr>
          <a:xfrm>
            <a:off x="841416" y="1054442"/>
            <a:ext cx="10515600" cy="752587"/>
          </a:xfrm>
        </p:spPr>
        <p:txBody>
          <a:bodyPr/>
          <a:lstStyle/>
          <a:p>
            <a:r>
              <a:rPr lang="es-CL" dirty="0"/>
              <a:t>Lista de Requerimientos</a:t>
            </a:r>
          </a:p>
        </p:txBody>
      </p:sp>
      <p:sp>
        <p:nvSpPr>
          <p:cNvPr id="2" name="Rectángulo: esquinas redondeadas 1">
            <a:extLst>
              <a:ext uri="{FF2B5EF4-FFF2-40B4-BE49-F238E27FC236}">
                <a16:creationId xmlns:a16="http://schemas.microsoft.com/office/drawing/2014/main" id="{6F6E5D5F-F80F-AA95-B722-76AD581ED952}"/>
              </a:ext>
            </a:extLst>
          </p:cNvPr>
          <p:cNvSpPr/>
          <p:nvPr/>
        </p:nvSpPr>
        <p:spPr>
          <a:xfrm>
            <a:off x="839487" y="1923143"/>
            <a:ext cx="10365542" cy="43325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MX" dirty="0"/>
              <a:t>Requerimientos Funcionales:</a:t>
            </a:r>
          </a:p>
          <a:p>
            <a:pPr algn="just"/>
            <a:endParaRPr lang="es-MX" dirty="0"/>
          </a:p>
          <a:p>
            <a:pPr algn="just"/>
            <a:r>
              <a:rPr lang="es-MX" dirty="0"/>
              <a:t>-Seguridad y Accesos: Autenticación de credenciales y gestión de permisos mediante roles (R.1, R.2). </a:t>
            </a:r>
          </a:p>
          <a:p>
            <a:pPr algn="just"/>
            <a:r>
              <a:rPr lang="es-MX" dirty="0"/>
              <a:t>-Gestión Centralizada: Operaciones CRUD autónomas para usuarios, servicios y reservas (R.3, R.4, R.5). </a:t>
            </a:r>
          </a:p>
          <a:p>
            <a:pPr algn="just"/>
            <a:r>
              <a:rPr lang="es-MX" dirty="0"/>
              <a:t>-Operatividad: Búsqueda dinámica de disponibilidad (R.6), generación de reportes exportables (R.7, R.20) e integración de notificaciones por correo (R.8, R.24). </a:t>
            </a:r>
          </a:p>
          <a:p>
            <a:pPr algn="just"/>
            <a:endParaRPr lang="es-MX" dirty="0"/>
          </a:p>
          <a:p>
            <a:pPr algn="just"/>
            <a:r>
              <a:rPr lang="es-MX" dirty="0"/>
              <a:t>Requerimientos No Funcionales (Calidad):</a:t>
            </a:r>
          </a:p>
          <a:p>
            <a:pPr algn="just"/>
            <a:endParaRPr lang="es-MX" dirty="0"/>
          </a:p>
          <a:p>
            <a:pPr algn="just"/>
            <a:r>
              <a:rPr lang="es-MX" dirty="0"/>
              <a:t>-Rendimiento: Tiempos de respuesta inferiores a 3 segundos, soportando hasta 100 usuarios concurrentes (R.23). </a:t>
            </a:r>
          </a:p>
          <a:p>
            <a:pPr algn="just"/>
            <a:r>
              <a:rPr lang="es-MX" dirty="0"/>
              <a:t>-Seguridad: Enmascaramiento de claves, cifrado de contraseñas (hash con </a:t>
            </a:r>
            <a:r>
              <a:rPr lang="es-MX" dirty="0" err="1"/>
              <a:t>salt</a:t>
            </a:r>
            <a:r>
              <a:rPr lang="es-MX" dirty="0"/>
              <a:t>) y registro (log) de auditoría (R.9, R.14). </a:t>
            </a:r>
          </a:p>
          <a:p>
            <a:pPr algn="just"/>
            <a:r>
              <a:rPr lang="es-MX" dirty="0"/>
              <a:t>-Disponibilidad: Garantía de un 95% de </a:t>
            </a:r>
            <a:r>
              <a:rPr lang="es-MX" dirty="0" err="1"/>
              <a:t>uptime</a:t>
            </a:r>
            <a:r>
              <a:rPr lang="es-MX" dirty="0"/>
              <a:t> y diseño cien por ciento responsivo y multiplataforma (R.11, R.29).</a:t>
            </a:r>
          </a:p>
        </p:txBody>
      </p:sp>
    </p:spTree>
    <p:extLst>
      <p:ext uri="{BB962C8B-B14F-4D97-AF65-F5344CB8AC3E}">
        <p14:creationId xmlns:p14="http://schemas.microsoft.com/office/powerpoint/2010/main" val="1618331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1252" y="1068511"/>
            <a:ext cx="10515600" cy="520804"/>
          </a:xfrm>
        </p:spPr>
        <p:txBody>
          <a:bodyPr>
            <a:normAutofit fontScale="90000"/>
          </a:bodyPr>
          <a:lstStyle/>
          <a:p>
            <a:r>
              <a:rPr lang="es-CL" dirty="0"/>
              <a:t>Mockups del Sistema</a:t>
            </a:r>
          </a:p>
        </p:txBody>
      </p:sp>
      <p:sp>
        <p:nvSpPr>
          <p:cNvPr id="5" name="CuadroTexto 4"/>
          <p:cNvSpPr txBox="1"/>
          <p:nvPr/>
        </p:nvSpPr>
        <p:spPr>
          <a:xfrm>
            <a:off x="757367" y="1848356"/>
            <a:ext cx="9990462" cy="1754326"/>
          </a:xfrm>
          <a:prstGeom prst="rect">
            <a:avLst/>
          </a:prstGeom>
          <a:noFill/>
        </p:spPr>
        <p:txBody>
          <a:bodyPr wrap="square" rtlCol="0">
            <a:spAutoFit/>
          </a:bodyPr>
          <a:lstStyle/>
          <a:p>
            <a:endParaRPr lang="es-CL" dirty="0"/>
          </a:p>
          <a:p>
            <a:endParaRPr lang="es-CL" dirty="0"/>
          </a:p>
          <a:p>
            <a:endParaRPr lang="es-CL" dirty="0"/>
          </a:p>
          <a:p>
            <a:endParaRPr lang="es-CL" dirty="0"/>
          </a:p>
          <a:p>
            <a:endParaRPr lang="es-CL" dirty="0"/>
          </a:p>
          <a:p>
            <a:endParaRPr lang="es-CL" dirty="0"/>
          </a:p>
        </p:txBody>
      </p:sp>
      <p:pic>
        <p:nvPicPr>
          <p:cNvPr id="3" name="Imagen 2">
            <a:extLst>
              <a:ext uri="{FF2B5EF4-FFF2-40B4-BE49-F238E27FC236}">
                <a16:creationId xmlns:a16="http://schemas.microsoft.com/office/drawing/2014/main" id="{BC82EF42-66B3-2CAA-F900-3B2232C840CE}"/>
              </a:ext>
            </a:extLst>
          </p:cNvPr>
          <p:cNvPicPr>
            <a:picLocks noChangeAspect="1"/>
          </p:cNvPicPr>
          <p:nvPr/>
        </p:nvPicPr>
        <p:blipFill>
          <a:blip r:embed="rId2"/>
          <a:stretch>
            <a:fillRect/>
          </a:stretch>
        </p:blipFill>
        <p:spPr>
          <a:xfrm>
            <a:off x="306488" y="1999844"/>
            <a:ext cx="3120837" cy="2675673"/>
          </a:xfrm>
          <a:prstGeom prst="rect">
            <a:avLst/>
          </a:prstGeom>
        </p:spPr>
      </p:pic>
      <p:pic>
        <p:nvPicPr>
          <p:cNvPr id="7" name="Imagen 6">
            <a:extLst>
              <a:ext uri="{FF2B5EF4-FFF2-40B4-BE49-F238E27FC236}">
                <a16:creationId xmlns:a16="http://schemas.microsoft.com/office/drawing/2014/main" id="{31597F67-4C14-9294-7139-9D7A4DD84422}"/>
              </a:ext>
            </a:extLst>
          </p:cNvPr>
          <p:cNvPicPr>
            <a:picLocks noChangeAspect="1"/>
          </p:cNvPicPr>
          <p:nvPr/>
        </p:nvPicPr>
        <p:blipFill>
          <a:blip r:embed="rId3"/>
          <a:stretch>
            <a:fillRect/>
          </a:stretch>
        </p:blipFill>
        <p:spPr>
          <a:xfrm>
            <a:off x="3789367" y="1999844"/>
            <a:ext cx="3533444" cy="2942809"/>
          </a:xfrm>
          <a:prstGeom prst="rect">
            <a:avLst/>
          </a:prstGeom>
        </p:spPr>
      </p:pic>
      <p:pic>
        <p:nvPicPr>
          <p:cNvPr id="9" name="Imagen 8">
            <a:extLst>
              <a:ext uri="{FF2B5EF4-FFF2-40B4-BE49-F238E27FC236}">
                <a16:creationId xmlns:a16="http://schemas.microsoft.com/office/drawing/2014/main" id="{3E2CE53A-2676-37E2-D6E4-563D77BE6846}"/>
              </a:ext>
            </a:extLst>
          </p:cNvPr>
          <p:cNvPicPr>
            <a:picLocks noChangeAspect="1"/>
          </p:cNvPicPr>
          <p:nvPr/>
        </p:nvPicPr>
        <p:blipFill>
          <a:blip r:embed="rId4"/>
          <a:stretch>
            <a:fillRect/>
          </a:stretch>
        </p:blipFill>
        <p:spPr>
          <a:xfrm>
            <a:off x="7742364" y="1956995"/>
            <a:ext cx="3692269" cy="3106711"/>
          </a:xfrm>
          <a:prstGeom prst="rect">
            <a:avLst/>
          </a:prstGeom>
        </p:spPr>
      </p:pic>
      <p:sp>
        <p:nvSpPr>
          <p:cNvPr id="10" name="CuadroTexto 9">
            <a:extLst>
              <a:ext uri="{FF2B5EF4-FFF2-40B4-BE49-F238E27FC236}">
                <a16:creationId xmlns:a16="http://schemas.microsoft.com/office/drawing/2014/main" id="{C5D3BBD9-F0D9-F4DB-02BC-1D29D0186167}"/>
              </a:ext>
            </a:extLst>
          </p:cNvPr>
          <p:cNvSpPr txBox="1"/>
          <p:nvPr/>
        </p:nvSpPr>
        <p:spPr>
          <a:xfrm>
            <a:off x="1073478" y="5650302"/>
            <a:ext cx="9767977" cy="923330"/>
          </a:xfrm>
          <a:prstGeom prst="rect">
            <a:avLst/>
          </a:prstGeom>
          <a:noFill/>
        </p:spPr>
        <p:txBody>
          <a:bodyPr wrap="square" rtlCol="0">
            <a:spAutoFit/>
          </a:bodyPr>
          <a:lstStyle/>
          <a:p>
            <a:r>
              <a:rPr lang="es-CL" b="1" dirty="0"/>
              <a:t>Interfaz del Estudiante / Cliente:</a:t>
            </a:r>
            <a:r>
              <a:rPr lang="es-CL" dirty="0"/>
              <a:t> Diseño responsivo e intuitivo centrado en la usabilidad. Permite al usuario enviar solicitudes (académicas o de servicios), revisar novedades institucionales, agendar reservas fácilmente y gestionar su perfil personal.</a:t>
            </a:r>
          </a:p>
        </p:txBody>
      </p:sp>
    </p:spTree>
    <p:extLst>
      <p:ext uri="{BB962C8B-B14F-4D97-AF65-F5344CB8AC3E}">
        <p14:creationId xmlns:p14="http://schemas.microsoft.com/office/powerpoint/2010/main" val="59537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45758-17A3-CA78-82D5-15B3DAA887AD}"/>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268E136C-5019-90F9-8E34-D8D948AE7E32}"/>
              </a:ext>
            </a:extLst>
          </p:cNvPr>
          <p:cNvSpPr>
            <a:spLocks noGrp="1"/>
          </p:cNvSpPr>
          <p:nvPr>
            <p:ph type="title"/>
          </p:nvPr>
        </p:nvSpPr>
        <p:spPr>
          <a:xfrm>
            <a:off x="641252" y="1068511"/>
            <a:ext cx="10515600" cy="520804"/>
          </a:xfrm>
        </p:spPr>
        <p:txBody>
          <a:bodyPr>
            <a:normAutofit fontScale="90000"/>
          </a:bodyPr>
          <a:lstStyle/>
          <a:p>
            <a:r>
              <a:rPr lang="es-CL" dirty="0"/>
              <a:t>Mockups del Sistema</a:t>
            </a:r>
          </a:p>
        </p:txBody>
      </p:sp>
      <p:sp>
        <p:nvSpPr>
          <p:cNvPr id="5" name="CuadroTexto 4">
            <a:extLst>
              <a:ext uri="{FF2B5EF4-FFF2-40B4-BE49-F238E27FC236}">
                <a16:creationId xmlns:a16="http://schemas.microsoft.com/office/drawing/2014/main" id="{562922EE-3E04-8B6D-B7A9-B756AFA333C1}"/>
              </a:ext>
            </a:extLst>
          </p:cNvPr>
          <p:cNvSpPr txBox="1"/>
          <p:nvPr/>
        </p:nvSpPr>
        <p:spPr>
          <a:xfrm>
            <a:off x="757367" y="1848356"/>
            <a:ext cx="9990462" cy="1754326"/>
          </a:xfrm>
          <a:prstGeom prst="rect">
            <a:avLst/>
          </a:prstGeom>
          <a:noFill/>
        </p:spPr>
        <p:txBody>
          <a:bodyPr wrap="square" rtlCol="0">
            <a:spAutoFit/>
          </a:bodyPr>
          <a:lstStyle/>
          <a:p>
            <a:endParaRPr lang="es-CL" dirty="0"/>
          </a:p>
          <a:p>
            <a:endParaRPr lang="es-CL" dirty="0"/>
          </a:p>
          <a:p>
            <a:endParaRPr lang="es-CL" dirty="0"/>
          </a:p>
          <a:p>
            <a:endParaRPr lang="es-CL" dirty="0"/>
          </a:p>
          <a:p>
            <a:endParaRPr lang="es-CL" dirty="0"/>
          </a:p>
          <a:p>
            <a:endParaRPr lang="es-CL" dirty="0"/>
          </a:p>
        </p:txBody>
      </p:sp>
      <p:pic>
        <p:nvPicPr>
          <p:cNvPr id="3" name="Imagen 2">
            <a:extLst>
              <a:ext uri="{FF2B5EF4-FFF2-40B4-BE49-F238E27FC236}">
                <a16:creationId xmlns:a16="http://schemas.microsoft.com/office/drawing/2014/main" id="{702C11A0-33E4-3CF2-B362-ECBAEC80668E}"/>
              </a:ext>
            </a:extLst>
          </p:cNvPr>
          <p:cNvPicPr>
            <a:picLocks noChangeAspect="1"/>
          </p:cNvPicPr>
          <p:nvPr/>
        </p:nvPicPr>
        <p:blipFill>
          <a:blip r:embed="rId2"/>
          <a:stretch>
            <a:fillRect/>
          </a:stretch>
        </p:blipFill>
        <p:spPr>
          <a:xfrm>
            <a:off x="4342333" y="1779482"/>
            <a:ext cx="3409387" cy="3389651"/>
          </a:xfrm>
          <a:prstGeom prst="rect">
            <a:avLst/>
          </a:prstGeom>
        </p:spPr>
      </p:pic>
      <p:pic>
        <p:nvPicPr>
          <p:cNvPr id="7" name="Imagen 6">
            <a:extLst>
              <a:ext uri="{FF2B5EF4-FFF2-40B4-BE49-F238E27FC236}">
                <a16:creationId xmlns:a16="http://schemas.microsoft.com/office/drawing/2014/main" id="{5ADB2742-BEAE-B6C1-CFD2-D42123C99786}"/>
              </a:ext>
            </a:extLst>
          </p:cNvPr>
          <p:cNvPicPr>
            <a:picLocks noChangeAspect="1"/>
          </p:cNvPicPr>
          <p:nvPr/>
        </p:nvPicPr>
        <p:blipFill>
          <a:blip r:embed="rId3"/>
          <a:stretch>
            <a:fillRect/>
          </a:stretch>
        </p:blipFill>
        <p:spPr>
          <a:xfrm>
            <a:off x="757367" y="1864987"/>
            <a:ext cx="3130103" cy="3304146"/>
          </a:xfrm>
          <a:prstGeom prst="rect">
            <a:avLst/>
          </a:prstGeom>
        </p:spPr>
      </p:pic>
      <p:pic>
        <p:nvPicPr>
          <p:cNvPr id="9" name="Imagen 8">
            <a:extLst>
              <a:ext uri="{FF2B5EF4-FFF2-40B4-BE49-F238E27FC236}">
                <a16:creationId xmlns:a16="http://schemas.microsoft.com/office/drawing/2014/main" id="{9C71C3B0-60F5-0A5C-DDC0-2BA6F07199CB}"/>
              </a:ext>
            </a:extLst>
          </p:cNvPr>
          <p:cNvPicPr>
            <a:picLocks noChangeAspect="1"/>
          </p:cNvPicPr>
          <p:nvPr/>
        </p:nvPicPr>
        <p:blipFill>
          <a:blip r:embed="rId4"/>
          <a:stretch>
            <a:fillRect/>
          </a:stretch>
        </p:blipFill>
        <p:spPr>
          <a:xfrm>
            <a:off x="8206584" y="1782071"/>
            <a:ext cx="3592526" cy="3387062"/>
          </a:xfrm>
          <a:prstGeom prst="rect">
            <a:avLst/>
          </a:prstGeom>
        </p:spPr>
      </p:pic>
      <p:sp>
        <p:nvSpPr>
          <p:cNvPr id="11" name="CuadroTexto 10">
            <a:extLst>
              <a:ext uri="{FF2B5EF4-FFF2-40B4-BE49-F238E27FC236}">
                <a16:creationId xmlns:a16="http://schemas.microsoft.com/office/drawing/2014/main" id="{C3061B20-B528-9A46-9152-7DD96CEC47DD}"/>
              </a:ext>
            </a:extLst>
          </p:cNvPr>
          <p:cNvSpPr txBox="1"/>
          <p:nvPr/>
        </p:nvSpPr>
        <p:spPr>
          <a:xfrm>
            <a:off x="1130277" y="5490693"/>
            <a:ext cx="9244641" cy="923330"/>
          </a:xfrm>
          <a:prstGeom prst="rect">
            <a:avLst/>
          </a:prstGeom>
          <a:noFill/>
        </p:spPr>
        <p:txBody>
          <a:bodyPr wrap="square">
            <a:spAutoFit/>
          </a:bodyPr>
          <a:lstStyle/>
          <a:p>
            <a:r>
              <a:rPr lang="es-CL" b="1" dirty="0"/>
              <a:t>Interfaz del Administrador:</a:t>
            </a:r>
            <a:r>
              <a:rPr lang="es-CL" dirty="0"/>
              <a:t> Panel de control centralizado (Dashboard) que exhibe métricas operativas en tiempo real. Proporciona un menú consolidado de Mantenedores (Usuarios, Roles, Servicios, Reportes, Calendario) para garantizar la autonomía total en la gestión de la plataforma.</a:t>
            </a:r>
          </a:p>
        </p:txBody>
      </p:sp>
    </p:spTree>
    <p:extLst>
      <p:ext uri="{BB962C8B-B14F-4D97-AF65-F5344CB8AC3E}">
        <p14:creationId xmlns:p14="http://schemas.microsoft.com/office/powerpoint/2010/main" val="1033991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1252" y="1068511"/>
            <a:ext cx="10515600" cy="644176"/>
          </a:xfrm>
        </p:spPr>
        <p:txBody>
          <a:bodyPr>
            <a:normAutofit fontScale="90000"/>
          </a:bodyPr>
          <a:lstStyle/>
          <a:p>
            <a:r>
              <a:rPr lang="es-CL" dirty="0"/>
              <a:t>Hitos Importantes </a:t>
            </a:r>
          </a:p>
        </p:txBody>
      </p:sp>
      <p:graphicFrame>
        <p:nvGraphicFramePr>
          <p:cNvPr id="6" name="Google Shape;546;p23">
            <a:extLst>
              <a:ext uri="{FF2B5EF4-FFF2-40B4-BE49-F238E27FC236}">
                <a16:creationId xmlns:a16="http://schemas.microsoft.com/office/drawing/2014/main" id="{D286135F-8E02-DD11-B3AB-F14E68EF67EC}"/>
              </a:ext>
            </a:extLst>
          </p:cNvPr>
          <p:cNvGraphicFramePr/>
          <p:nvPr>
            <p:extLst>
              <p:ext uri="{D42A27DB-BD31-4B8C-83A1-F6EECF244321}">
                <p14:modId xmlns:p14="http://schemas.microsoft.com/office/powerpoint/2010/main" val="2362222305"/>
              </p:ext>
            </p:extLst>
          </p:nvPr>
        </p:nvGraphicFramePr>
        <p:xfrm>
          <a:off x="1708434" y="2356863"/>
          <a:ext cx="7525230" cy="3027740"/>
        </p:xfrm>
        <a:graphic>
          <a:graphicData uri="http://schemas.openxmlformats.org/drawingml/2006/table">
            <a:tbl>
              <a:tblPr firstRow="1" bandRow="1">
                <a:tableStyleId>{5940675A-B579-460E-94D1-54222C63F5DA}</a:tableStyleId>
              </a:tblPr>
              <a:tblGrid>
                <a:gridCol w="3217857">
                  <a:extLst>
                    <a:ext uri="{9D8B030D-6E8A-4147-A177-3AD203B41FA5}">
                      <a16:colId xmlns:a16="http://schemas.microsoft.com/office/drawing/2014/main" val="20000"/>
                    </a:ext>
                  </a:extLst>
                </a:gridCol>
                <a:gridCol w="4307373">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s-ES" sz="1800" b="1" u="none" strike="noStrike" cap="none" dirty="0">
                          <a:solidFill>
                            <a:schemeClr val="tx1"/>
                          </a:solidFill>
                        </a:rPr>
                        <a:t>Nombre Fase</a:t>
                      </a:r>
                      <a:endParaRPr sz="1800" b="1" u="none" strike="noStrike" cap="none" dirty="0">
                        <a:solidFill>
                          <a:schemeClr val="tx1"/>
                        </a:solidFill>
                      </a:endParaRPr>
                    </a:p>
                  </a:txBody>
                  <a:tcPr marL="91450" marR="91450" marT="45725" marB="45725" anchor="ctr"/>
                </a:tc>
                <a:tc>
                  <a:txBody>
                    <a:bodyPr/>
                    <a:lstStyle/>
                    <a:p>
                      <a:pPr marL="0" marR="0" lvl="0" indent="0" algn="ctr" rtl="0">
                        <a:spcBef>
                          <a:spcPts val="0"/>
                        </a:spcBef>
                        <a:spcAft>
                          <a:spcPts val="0"/>
                        </a:spcAft>
                        <a:buNone/>
                      </a:pPr>
                      <a:r>
                        <a:rPr lang="es-ES" sz="1800" b="1" u="none" strike="noStrike" cap="none" dirty="0">
                          <a:solidFill>
                            <a:schemeClr val="tx1"/>
                          </a:solidFill>
                        </a:rPr>
                        <a:t>Fechas</a:t>
                      </a:r>
                      <a:endParaRPr sz="1800" b="1" u="none" strike="noStrike" cap="none" dirty="0">
                        <a:solidFill>
                          <a:schemeClr val="tx1"/>
                        </a:solidFill>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s-CL" dirty="0"/>
                        <a:t>Inicio del Proyecto (Firma del Acta)</a:t>
                      </a:r>
                      <a:endParaRPr sz="1800" u="none" strike="noStrike" cap="none" dirty="0">
                        <a:solidFill>
                          <a:schemeClr val="lt1"/>
                        </a:solidFill>
                      </a:endParaRPr>
                    </a:p>
                  </a:txBody>
                  <a:tcPr marL="91450" marR="91450" marT="45725" marB="45725" anchor="ctr"/>
                </a:tc>
                <a:tc>
                  <a:txBody>
                    <a:bodyPr/>
                    <a:lstStyle/>
                    <a:p>
                      <a:pPr algn="ctr">
                        <a:lnSpc>
                          <a:spcPct val="100000"/>
                        </a:lnSpc>
                        <a:spcAft>
                          <a:spcPts val="1000"/>
                        </a:spcAft>
                      </a:pPr>
                      <a:r>
                        <a:rPr lang="es-CL" sz="2000" dirty="0"/>
                        <a:t>Agosto 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1"/>
                  </a:ext>
                </a:extLst>
              </a:tr>
              <a:tr h="362550">
                <a:tc>
                  <a:txBody>
                    <a:bodyPr/>
                    <a:lstStyle/>
                    <a:p>
                      <a:pPr marL="0" marR="0" lvl="0" indent="0" algn="ctr" rtl="0">
                        <a:spcBef>
                          <a:spcPts val="0"/>
                        </a:spcBef>
                        <a:spcAft>
                          <a:spcPts val="0"/>
                        </a:spcAft>
                        <a:buNone/>
                      </a:pPr>
                      <a:r>
                        <a:rPr lang="es-CL" dirty="0"/>
                        <a:t>Hito 1 - Entrega Documento ERS</a:t>
                      </a:r>
                      <a:endParaRPr sz="1800" u="none" strike="noStrike" cap="none" dirty="0">
                        <a:solidFill>
                          <a:schemeClr val="lt1"/>
                        </a:solidFill>
                      </a:endParaRPr>
                    </a:p>
                  </a:txBody>
                  <a:tcPr marL="91450" marR="91450" marT="45725" marB="45725" anchor="ctr"/>
                </a:tc>
                <a:tc>
                  <a:txBody>
                    <a:bodyPr/>
                    <a:lstStyle/>
                    <a:p>
                      <a:pPr algn="ctr">
                        <a:lnSpc>
                          <a:spcPct val="100000"/>
                        </a:lnSpc>
                        <a:spcAft>
                          <a:spcPts val="1000"/>
                        </a:spcAft>
                      </a:pPr>
                      <a:r>
                        <a:rPr lang="es-CL" sz="2000" dirty="0"/>
                        <a:t>Septiembre 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s-CL" dirty="0"/>
                        <a:t>Hito 2 - Entrega EDT y Diseño</a:t>
                      </a:r>
                      <a:endParaRPr sz="1800" u="none" strike="noStrike" cap="none" dirty="0">
                        <a:solidFill>
                          <a:schemeClr val="lt1"/>
                        </a:solidFill>
                      </a:endParaRPr>
                    </a:p>
                  </a:txBody>
                  <a:tcPr marL="91450" marR="91450" marT="45725" marB="45725" anchor="ctr"/>
                </a:tc>
                <a:tc>
                  <a:txBody>
                    <a:bodyPr/>
                    <a:lstStyle/>
                    <a:p>
                      <a:pPr algn="ctr">
                        <a:lnSpc>
                          <a:spcPct val="100000"/>
                        </a:lnSpc>
                        <a:spcAft>
                          <a:spcPts val="1000"/>
                        </a:spcAft>
                      </a:pPr>
                      <a:r>
                        <a:rPr lang="es-CL" sz="2000" dirty="0"/>
                        <a:t>Septiembre 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3"/>
                  </a:ext>
                </a:extLst>
              </a:tr>
              <a:tr h="0">
                <a:tc>
                  <a:txBody>
                    <a:bodyPr/>
                    <a:lstStyle/>
                    <a:p>
                      <a:pPr marL="0" marR="0" lvl="0" indent="0" algn="ctr" rtl="0">
                        <a:spcBef>
                          <a:spcPts val="0"/>
                        </a:spcBef>
                        <a:spcAft>
                          <a:spcPts val="0"/>
                        </a:spcAft>
                        <a:buNone/>
                      </a:pPr>
                      <a:r>
                        <a:rPr lang="es-CL" dirty="0"/>
                        <a:t>Hito 3 - Término Módulos de Desarrollo</a:t>
                      </a:r>
                      <a:endParaRPr sz="1800" u="none" strike="noStrike" cap="none" dirty="0">
                        <a:solidFill>
                          <a:schemeClr val="lt1"/>
                        </a:solidFill>
                      </a:endParaRPr>
                    </a:p>
                  </a:txBody>
                  <a:tcPr marL="91450" marR="91450" marT="45725" marB="45725" anchor="ctr"/>
                </a:tc>
                <a:tc>
                  <a:txBody>
                    <a:bodyPr/>
                    <a:lstStyle/>
                    <a:p>
                      <a:pPr algn="ctr">
                        <a:lnSpc>
                          <a:spcPct val="100000"/>
                        </a:lnSpc>
                        <a:spcAft>
                          <a:spcPts val="1000"/>
                        </a:spcAft>
                      </a:pPr>
                      <a:r>
                        <a:rPr lang="es-CL" sz="2000" dirty="0"/>
                        <a:t>Octubre 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s-CL" dirty="0"/>
                        <a:t>Hito 4 - Pruebas de Integración y QA</a:t>
                      </a:r>
                      <a:endParaRPr sz="1800" u="none" strike="noStrike" cap="none" dirty="0">
                        <a:solidFill>
                          <a:schemeClr val="lt1"/>
                        </a:solidFill>
                      </a:endParaRPr>
                    </a:p>
                  </a:txBody>
                  <a:tcPr marL="91450" marR="91450" marT="45725" marB="45725" anchor="ctr"/>
                </a:tc>
                <a:tc>
                  <a:txBody>
                    <a:bodyPr/>
                    <a:lstStyle/>
                    <a:p>
                      <a:pPr algn="ctr">
                        <a:lnSpc>
                          <a:spcPct val="100000"/>
                        </a:lnSpc>
                        <a:spcAft>
                          <a:spcPts val="1000"/>
                        </a:spcAft>
                      </a:pPr>
                      <a:r>
                        <a:rPr lang="es-CL" sz="2000" dirty="0"/>
                        <a:t>Noviembre 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15537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06567" y="901597"/>
            <a:ext cx="10515600" cy="586118"/>
          </a:xfrm>
        </p:spPr>
        <p:txBody>
          <a:bodyPr>
            <a:normAutofit fontScale="90000"/>
          </a:bodyPr>
          <a:lstStyle/>
          <a:p>
            <a:r>
              <a:rPr lang="es-CL" dirty="0"/>
              <a:t>Costos por Fase </a:t>
            </a:r>
          </a:p>
        </p:txBody>
      </p:sp>
      <p:sp>
        <p:nvSpPr>
          <p:cNvPr id="2" name="Rectángulo: esquinas redondeadas 1">
            <a:extLst>
              <a:ext uri="{FF2B5EF4-FFF2-40B4-BE49-F238E27FC236}">
                <a16:creationId xmlns:a16="http://schemas.microsoft.com/office/drawing/2014/main" id="{B8C64C19-042E-DBCD-DC9B-ADEAFF031E68}"/>
              </a:ext>
            </a:extLst>
          </p:cNvPr>
          <p:cNvSpPr/>
          <p:nvPr/>
        </p:nvSpPr>
        <p:spPr>
          <a:xfrm>
            <a:off x="782337" y="1681843"/>
            <a:ext cx="10247613" cy="43325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graphicFrame>
        <p:nvGraphicFramePr>
          <p:cNvPr id="5" name="Tabla 4">
            <a:extLst>
              <a:ext uri="{FF2B5EF4-FFF2-40B4-BE49-F238E27FC236}">
                <a16:creationId xmlns:a16="http://schemas.microsoft.com/office/drawing/2014/main" id="{65913AE8-3146-1D9D-3050-CB910DC2621D}"/>
              </a:ext>
            </a:extLst>
          </p:cNvPr>
          <p:cNvGraphicFramePr>
            <a:graphicFrameLocks noGrp="1"/>
          </p:cNvGraphicFramePr>
          <p:nvPr>
            <p:extLst>
              <p:ext uri="{D42A27DB-BD31-4B8C-83A1-F6EECF244321}">
                <p14:modId xmlns:p14="http://schemas.microsoft.com/office/powerpoint/2010/main" val="2423007614"/>
              </p:ext>
            </p:extLst>
          </p:nvPr>
        </p:nvGraphicFramePr>
        <p:xfrm>
          <a:off x="1721449" y="2462202"/>
          <a:ext cx="8336952" cy="2860040"/>
        </p:xfrm>
        <a:graphic>
          <a:graphicData uri="http://schemas.openxmlformats.org/drawingml/2006/table">
            <a:tbl>
              <a:tblPr firstRow="1" bandRow="1">
                <a:tableStyleId>{5C22544A-7EE6-4342-B048-85BDC9FD1C3A}</a:tableStyleId>
              </a:tblPr>
              <a:tblGrid>
                <a:gridCol w="2778984">
                  <a:extLst>
                    <a:ext uri="{9D8B030D-6E8A-4147-A177-3AD203B41FA5}">
                      <a16:colId xmlns:a16="http://schemas.microsoft.com/office/drawing/2014/main" val="436503251"/>
                    </a:ext>
                  </a:extLst>
                </a:gridCol>
                <a:gridCol w="2778984">
                  <a:extLst>
                    <a:ext uri="{9D8B030D-6E8A-4147-A177-3AD203B41FA5}">
                      <a16:colId xmlns:a16="http://schemas.microsoft.com/office/drawing/2014/main" val="1211609313"/>
                    </a:ext>
                  </a:extLst>
                </a:gridCol>
                <a:gridCol w="2778984">
                  <a:extLst>
                    <a:ext uri="{9D8B030D-6E8A-4147-A177-3AD203B41FA5}">
                      <a16:colId xmlns:a16="http://schemas.microsoft.com/office/drawing/2014/main" val="3830376533"/>
                    </a:ext>
                  </a:extLst>
                </a:gridCol>
              </a:tblGrid>
              <a:tr h="370840">
                <a:tc>
                  <a:txBody>
                    <a:bodyPr/>
                    <a:lstStyle/>
                    <a:p>
                      <a:r>
                        <a:rPr lang="es-MX" dirty="0"/>
                        <a:t>Fases</a:t>
                      </a:r>
                      <a:endParaRPr lang="es-CL" dirty="0"/>
                    </a:p>
                  </a:txBody>
                  <a:tcPr/>
                </a:tc>
                <a:tc>
                  <a:txBody>
                    <a:bodyPr/>
                    <a:lstStyle/>
                    <a:p>
                      <a:r>
                        <a:rPr lang="es-MX" dirty="0" err="1"/>
                        <a:t>Descripcion</a:t>
                      </a:r>
                      <a:endParaRPr lang="es-CL" dirty="0"/>
                    </a:p>
                  </a:txBody>
                  <a:tcPr/>
                </a:tc>
                <a:tc>
                  <a:txBody>
                    <a:bodyPr/>
                    <a:lstStyle/>
                    <a:p>
                      <a:r>
                        <a:rPr lang="es-MX" dirty="0"/>
                        <a:t>Costo</a:t>
                      </a:r>
                      <a:endParaRPr lang="es-CL" dirty="0"/>
                    </a:p>
                  </a:txBody>
                  <a:tcPr/>
                </a:tc>
                <a:extLst>
                  <a:ext uri="{0D108BD9-81ED-4DB2-BD59-A6C34878D82A}">
                    <a16:rowId xmlns:a16="http://schemas.microsoft.com/office/drawing/2014/main" val="91631653"/>
                  </a:ext>
                </a:extLst>
              </a:tr>
              <a:tr h="370840">
                <a:tc>
                  <a:txBody>
                    <a:bodyPr/>
                    <a:lstStyle/>
                    <a:p>
                      <a:r>
                        <a:rPr lang="es-CL" dirty="0"/>
                        <a:t>Fase 1 </a:t>
                      </a:r>
                    </a:p>
                  </a:txBody>
                  <a:tcPr/>
                </a:tc>
                <a:tc>
                  <a:txBody>
                    <a:bodyPr/>
                    <a:lstStyle/>
                    <a:p>
                      <a:r>
                        <a:rPr lang="es-CL" dirty="0"/>
                        <a:t>Planificación</a:t>
                      </a:r>
                    </a:p>
                  </a:txBody>
                  <a:tcPr/>
                </a:tc>
                <a:tc>
                  <a:txBody>
                    <a:bodyPr/>
                    <a:lstStyle/>
                    <a:p>
                      <a:r>
                        <a:rPr lang="es-CL" dirty="0"/>
                        <a:t>$661.000</a:t>
                      </a:r>
                    </a:p>
                  </a:txBody>
                  <a:tcPr/>
                </a:tc>
                <a:extLst>
                  <a:ext uri="{0D108BD9-81ED-4DB2-BD59-A6C34878D82A}">
                    <a16:rowId xmlns:a16="http://schemas.microsoft.com/office/drawing/2014/main" val="502613311"/>
                  </a:ext>
                </a:extLst>
              </a:tr>
              <a:tr h="370840">
                <a:tc>
                  <a:txBody>
                    <a:bodyPr/>
                    <a:lstStyle/>
                    <a:p>
                      <a:r>
                        <a:rPr lang="es-CL" dirty="0"/>
                        <a:t>Fase 2</a:t>
                      </a:r>
                    </a:p>
                  </a:txBody>
                  <a:tcPr/>
                </a:tc>
                <a:tc>
                  <a:txBody>
                    <a:bodyPr/>
                    <a:lstStyle/>
                    <a:p>
                      <a:r>
                        <a:rPr lang="es-CL" dirty="0"/>
                        <a:t>Análisis y Diseño</a:t>
                      </a:r>
                    </a:p>
                  </a:txBody>
                  <a:tcPr/>
                </a:tc>
                <a:tc>
                  <a:txBody>
                    <a:bodyPr/>
                    <a:lstStyle/>
                    <a:p>
                      <a:r>
                        <a:rPr lang="es-CL" dirty="0"/>
                        <a:t>$1.583.000</a:t>
                      </a:r>
                    </a:p>
                  </a:txBody>
                  <a:tcPr/>
                </a:tc>
                <a:extLst>
                  <a:ext uri="{0D108BD9-81ED-4DB2-BD59-A6C34878D82A}">
                    <a16:rowId xmlns:a16="http://schemas.microsoft.com/office/drawing/2014/main" val="3518045845"/>
                  </a:ext>
                </a:extLst>
              </a:tr>
              <a:tr h="370840">
                <a:tc>
                  <a:txBody>
                    <a:bodyPr/>
                    <a:lstStyle/>
                    <a:p>
                      <a:r>
                        <a:rPr lang="es-CL" dirty="0"/>
                        <a:t>Fase 3</a:t>
                      </a:r>
                    </a:p>
                  </a:txBody>
                  <a:tcPr/>
                </a:tc>
                <a:tc>
                  <a:txBody>
                    <a:bodyPr/>
                    <a:lstStyle/>
                    <a:p>
                      <a:r>
                        <a:rPr lang="es-CL" dirty="0"/>
                        <a:t>Desarrollo</a:t>
                      </a:r>
                    </a:p>
                  </a:txBody>
                  <a:tcPr/>
                </a:tc>
                <a:tc>
                  <a:txBody>
                    <a:bodyPr/>
                    <a:lstStyle/>
                    <a:p>
                      <a:r>
                        <a:rPr lang="es-CL" dirty="0"/>
                        <a:t>$3.692.000</a:t>
                      </a:r>
                    </a:p>
                  </a:txBody>
                  <a:tcPr/>
                </a:tc>
                <a:extLst>
                  <a:ext uri="{0D108BD9-81ED-4DB2-BD59-A6C34878D82A}">
                    <a16:rowId xmlns:a16="http://schemas.microsoft.com/office/drawing/2014/main" val="3341766492"/>
                  </a:ext>
                </a:extLst>
              </a:tr>
              <a:tr h="370840">
                <a:tc>
                  <a:txBody>
                    <a:bodyPr/>
                    <a:lstStyle/>
                    <a:p>
                      <a:r>
                        <a:rPr lang="es-CL" dirty="0"/>
                        <a:t>Fase 4</a:t>
                      </a:r>
                    </a:p>
                  </a:txBody>
                  <a:tcPr/>
                </a:tc>
                <a:tc>
                  <a:txBody>
                    <a:bodyPr/>
                    <a:lstStyle/>
                    <a:p>
                      <a:r>
                        <a:rPr lang="es-CL" dirty="0"/>
                        <a:t>Pruebas y QA</a:t>
                      </a:r>
                    </a:p>
                  </a:txBody>
                  <a:tcPr/>
                </a:tc>
                <a:tc>
                  <a:txBody>
                    <a:bodyPr/>
                    <a:lstStyle/>
                    <a:p>
                      <a:r>
                        <a:rPr lang="es-CL" dirty="0"/>
                        <a:t>$1.078.000</a:t>
                      </a:r>
                    </a:p>
                  </a:txBody>
                  <a:tcPr/>
                </a:tc>
                <a:extLst>
                  <a:ext uri="{0D108BD9-81ED-4DB2-BD59-A6C34878D82A}">
                    <a16:rowId xmlns:a16="http://schemas.microsoft.com/office/drawing/2014/main" val="1047988208"/>
                  </a:ext>
                </a:extLst>
              </a:tr>
              <a:tr h="185420">
                <a:tc>
                  <a:txBody>
                    <a:bodyPr/>
                    <a:lstStyle/>
                    <a:p>
                      <a:r>
                        <a:rPr lang="es-CL" dirty="0"/>
                        <a:t>Fase 5</a:t>
                      </a:r>
                    </a:p>
                  </a:txBody>
                  <a:tcPr/>
                </a:tc>
                <a:tc>
                  <a:txBody>
                    <a:bodyPr/>
                    <a:lstStyle/>
                    <a:p>
                      <a:r>
                        <a:rPr lang="es-CL" dirty="0"/>
                        <a:t>Implementación y Cierre</a:t>
                      </a:r>
                    </a:p>
                  </a:txBody>
                  <a:tcPr/>
                </a:tc>
                <a:tc>
                  <a:txBody>
                    <a:bodyPr/>
                    <a:lstStyle/>
                    <a:p>
                      <a:r>
                        <a:rPr lang="es-CL" dirty="0"/>
                        <a:t>$974.000</a:t>
                      </a:r>
                    </a:p>
                  </a:txBody>
                  <a:tcPr/>
                </a:tc>
                <a:extLst>
                  <a:ext uri="{0D108BD9-81ED-4DB2-BD59-A6C34878D82A}">
                    <a16:rowId xmlns:a16="http://schemas.microsoft.com/office/drawing/2014/main" val="1445278450"/>
                  </a:ext>
                </a:extLst>
              </a:tr>
              <a:tr h="185420">
                <a:tc>
                  <a:txBody>
                    <a:bodyPr/>
                    <a:lstStyle/>
                    <a:p>
                      <a:r>
                        <a:rPr lang="es-CL" dirty="0"/>
                        <a:t>Presupuesto y Esfuerzo</a:t>
                      </a:r>
                    </a:p>
                  </a:txBody>
                  <a:tcPr/>
                </a:tc>
                <a:tc>
                  <a:txBody>
                    <a:bodyPr/>
                    <a:lstStyle/>
                    <a:p>
                      <a:r>
                        <a:rPr lang="es-CL" dirty="0"/>
                        <a:t>Total</a:t>
                      </a:r>
                    </a:p>
                  </a:txBody>
                  <a:tcPr/>
                </a:tc>
                <a:tc>
                  <a:txBody>
                    <a:bodyPr/>
                    <a:lstStyle/>
                    <a:p>
                      <a:r>
                        <a:rPr lang="es-CL" b="1" dirty="0"/>
                        <a:t>$7.988.000 CLP</a:t>
                      </a:r>
                      <a:r>
                        <a:rPr lang="es-CL" dirty="0"/>
                        <a:t> distribuidos en </a:t>
                      </a:r>
                      <a:r>
                        <a:rPr lang="es-CL" b="1" dirty="0"/>
                        <a:t>398 horas</a:t>
                      </a:r>
                      <a:r>
                        <a:rPr lang="es-CL" dirty="0"/>
                        <a:t> de trabajo. </a:t>
                      </a:r>
                    </a:p>
                  </a:txBody>
                  <a:tcPr/>
                </a:tc>
                <a:extLst>
                  <a:ext uri="{0D108BD9-81ED-4DB2-BD59-A6C34878D82A}">
                    <a16:rowId xmlns:a16="http://schemas.microsoft.com/office/drawing/2014/main" val="476583022"/>
                  </a:ext>
                </a:extLst>
              </a:tr>
            </a:tbl>
          </a:graphicData>
        </a:graphic>
      </p:graphicFrame>
    </p:spTree>
    <p:extLst>
      <p:ext uri="{BB962C8B-B14F-4D97-AF65-F5344CB8AC3E}">
        <p14:creationId xmlns:p14="http://schemas.microsoft.com/office/powerpoint/2010/main" val="3804514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ítulo 3"/>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6200" kern="1200">
                <a:solidFill>
                  <a:schemeClr val="tx1"/>
                </a:solidFill>
                <a:latin typeface="+mj-lt"/>
                <a:ea typeface="+mj-ea"/>
                <a:cs typeface="+mj-cs"/>
              </a:rPr>
              <a:t>Tecnologías del Desarrollo</a:t>
            </a: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uadroTexto 4">
            <a:extLst>
              <a:ext uri="{FF2B5EF4-FFF2-40B4-BE49-F238E27FC236}">
                <a16:creationId xmlns:a16="http://schemas.microsoft.com/office/drawing/2014/main" id="{A01CCDDF-B8B2-5A32-0460-35A2E02BD6A3}"/>
              </a:ext>
            </a:extLst>
          </p:cNvPr>
          <p:cNvGraphicFramePr/>
          <p:nvPr>
            <p:extLst>
              <p:ext uri="{D42A27DB-BD31-4B8C-83A1-F6EECF244321}">
                <p14:modId xmlns:p14="http://schemas.microsoft.com/office/powerpoint/2010/main" val="318080400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4348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3"/>
          <p:cNvSpPr txBox="1">
            <a:spLocks/>
          </p:cNvSpPr>
          <p:nvPr/>
        </p:nvSpPr>
        <p:spPr>
          <a:xfrm>
            <a:off x="609558" y="699121"/>
            <a:ext cx="10515600" cy="10534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dirty="0"/>
              <a:t>Conclusión  </a:t>
            </a:r>
          </a:p>
        </p:txBody>
      </p:sp>
      <p:sp>
        <p:nvSpPr>
          <p:cNvPr id="2" name="Rectángulo: esquinas redondeadas 1">
            <a:extLst>
              <a:ext uri="{FF2B5EF4-FFF2-40B4-BE49-F238E27FC236}">
                <a16:creationId xmlns:a16="http://schemas.microsoft.com/office/drawing/2014/main" id="{C996CBE9-7AF7-AD71-3333-A4F05AF40672}"/>
              </a:ext>
            </a:extLst>
          </p:cNvPr>
          <p:cNvSpPr/>
          <p:nvPr/>
        </p:nvSpPr>
        <p:spPr>
          <a:xfrm>
            <a:off x="839487" y="1923143"/>
            <a:ext cx="10365542" cy="43325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s-MX" dirty="0"/>
              <a:t>ReserveHub se consolida como una solución tecnológica innovadora, segura y escalable, diseñada específicamente para resolver la pérdida de información y los errores de solapamiento en la gestión de recursos institucionales.  Al centralizar la operación mediante mantenedores autónomos, el sistema moderniza los procesos administrativos, liberando la dependencia de soporte técnico y mejorando drásticamente la experiencia del usuario final gracias a sus notificaciones automáticas y reportes en tiempo real.  El proyecto cuenta con una viabilidad técnica y económica plenamente justificada. Apoyado en una arquitectura robusta en capas (.NET Core 8) y gestionado bajo el marco de trabajo ágil Scrum, el desarrollo asegura el cumplimiento de sus 5 fases operativas a lo largo de 87 días hábiles. Esto garantiza la entrega de un producto funcional, testeado y de alta calidad para diciembre de 2026, respetando íntegramente el presupuesto total asignado de $7.988.000 CLP. </a:t>
            </a:r>
            <a:endParaRPr lang="es-CL" dirty="0"/>
          </a:p>
        </p:txBody>
      </p:sp>
    </p:spTree>
    <p:extLst>
      <p:ext uri="{BB962C8B-B14F-4D97-AF65-F5344CB8AC3E}">
        <p14:creationId xmlns:p14="http://schemas.microsoft.com/office/powerpoint/2010/main" val="407193317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1224</Words>
  <Application>Microsoft Office PowerPoint</Application>
  <PresentationFormat>Panorámica</PresentationFormat>
  <Paragraphs>113</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Presentación Portafolio Titulo ReserveHub</vt:lpstr>
      <vt:lpstr>Presentación de PowerPoint</vt:lpstr>
      <vt:lpstr>Descripción del Proyecto</vt:lpstr>
      <vt:lpstr>Presentación de PowerPoint</vt:lpstr>
      <vt:lpstr>Alcances</vt:lpstr>
      <vt:lpstr>Usuarios</vt:lpstr>
      <vt:lpstr>Lista de Requerimientos</vt:lpstr>
      <vt:lpstr>Mockups del Sistema</vt:lpstr>
      <vt:lpstr>Mockups del Sistema</vt:lpstr>
      <vt:lpstr>Hitos Importantes </vt:lpstr>
      <vt:lpstr>Costos por Fase </vt:lpstr>
      <vt:lpstr>Tecnologías del Desarrollo</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Portafolio de Título “Título del Caso”</dc:title>
  <dc:creator>Sala_</dc:creator>
  <cp:lastModifiedBy>JEAN PAUL COLOMA SILVA</cp:lastModifiedBy>
  <cp:revision>89</cp:revision>
  <dcterms:created xsi:type="dcterms:W3CDTF">2015-07-01T15:45:01Z</dcterms:created>
  <dcterms:modified xsi:type="dcterms:W3CDTF">2026-09-08T20:02:11Z</dcterms:modified>
</cp:coreProperties>
</file>